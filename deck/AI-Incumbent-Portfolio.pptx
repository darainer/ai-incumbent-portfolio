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ffe590d20374c1e" /><Relationship Type="http://schemas.openxmlformats.org/officeDocument/2006/relationships/extended-properties" Target="/docProps/app.xml" Id="R4536b6f2350246f2" /><Relationship Type="http://schemas.openxmlformats.org/officeDocument/2006/relationships/officeDocument" Target="/ppt/presentation.xml" Id="Ra959549b40174f28" /></Relationships>
</file>

<file path=ppt/presentation.xml><?xml version="1.0" encoding="utf-8"?>
<p:presentation xmlns:p="http://schemas.openxmlformats.org/presentationml/2006/main">
  <p:sldMasterIdLst>
    <p:sldMasterId xmlns:r="http://schemas.openxmlformats.org/officeDocument/2006/relationships" id="2147483648" r:id="R1dbc72792c5a4261"/>
  </p:sldMasterIdLst>
  <p:notesMasterIdLst>
    <p:notesMasterId xmlns:r="http://schemas.openxmlformats.org/officeDocument/2006/relationships" r:id="R9832989c651d4dcd"/>
  </p:notesMasterIdLst>
  <p:sldIdLst>
    <p:sldId xmlns:r="http://schemas.openxmlformats.org/officeDocument/2006/relationships" id="256" r:id="R26535cadccfb4c24"/>
    <p:sldId xmlns:r="http://schemas.openxmlformats.org/officeDocument/2006/relationships" id="257" r:id="R43be971b76be4d5f"/>
    <p:sldId xmlns:r="http://schemas.openxmlformats.org/officeDocument/2006/relationships" id="258" r:id="R5d7a559cbc1247ea"/>
    <p:sldId xmlns:r="http://schemas.openxmlformats.org/officeDocument/2006/relationships" id="259" r:id="R3bbf6198538a483a"/>
    <p:sldId xmlns:r="http://schemas.openxmlformats.org/officeDocument/2006/relationships" id="260" r:id="Ra3cb4692ffd441f9"/>
    <p:sldId xmlns:r="http://schemas.openxmlformats.org/officeDocument/2006/relationships" id="261" r:id="R8e6acb7186f44fe5"/>
    <p:sldId xmlns:r="http://schemas.openxmlformats.org/officeDocument/2006/relationships" id="262" r:id="R4e336aa9a6f243f0"/>
    <p:sldId xmlns:r="http://schemas.openxmlformats.org/officeDocument/2006/relationships" id="263" r:id="R32113616f6164ed0"/>
    <p:sldId xmlns:r="http://schemas.openxmlformats.org/officeDocument/2006/relationships" id="264" r:id="R06087b62881147a4"/>
    <p:sldId xmlns:r="http://schemas.openxmlformats.org/officeDocument/2006/relationships" id="265" r:id="R0a838c27fe3d4e9a"/>
    <p:sldId xmlns:r="http://schemas.openxmlformats.org/officeDocument/2006/relationships" id="266" r:id="R27af3f8949914028"/>
    <p:sldId xmlns:r="http://schemas.openxmlformats.org/officeDocument/2006/relationships" id="267" r:id="R329c1582f5844ff3"/>
    <p:sldId xmlns:r="http://schemas.openxmlformats.org/officeDocument/2006/relationships" id="268" r:id="R58ea73ba68994019"/>
    <p:sldId xmlns:r="http://schemas.openxmlformats.org/officeDocument/2006/relationships" id="269" r:id="R4485585a2c8846b6"/>
    <p:sldId xmlns:r="http://schemas.openxmlformats.org/officeDocument/2006/relationships" id="270" r:id="R741c3156896747ae"/>
    <p:sldId xmlns:r="http://schemas.openxmlformats.org/officeDocument/2006/relationships" id="271" r:id="R7406671119284c7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b2e03b64424424a" /><Relationship Type="http://schemas.openxmlformats.org/officeDocument/2006/relationships/slideMaster" Target="/ppt/slideMasters/slideMaster1.xml" Id="R1dbc72792c5a4261" /><Relationship Type="http://schemas.openxmlformats.org/officeDocument/2006/relationships/notesMaster" Target="/ppt/notesMasters/notesMaster1.xml" Id="R9832989c651d4dcd" /><Relationship Type="http://schemas.openxmlformats.org/officeDocument/2006/relationships/presProps" Target="/ppt/presProps.xml" Id="Rca81d2b2fd0046aa" /><Relationship Type="http://schemas.openxmlformats.org/officeDocument/2006/relationships/tableStyles" Target="/ppt/tableStyles.xml" Id="Rb19baabf95dd450f" /><Relationship Type="http://schemas.openxmlformats.org/officeDocument/2006/relationships/slide" Target="/ppt/slides/slide1.xml" Id="R26535cadccfb4c24" /><Relationship Type="http://schemas.openxmlformats.org/officeDocument/2006/relationships/slide" Target="/ppt/slides/slide2.xml" Id="R43be971b76be4d5f" /><Relationship Type="http://schemas.openxmlformats.org/officeDocument/2006/relationships/slide" Target="/ppt/slides/slide3.xml" Id="R5d7a559cbc1247ea" /><Relationship Type="http://schemas.openxmlformats.org/officeDocument/2006/relationships/slide" Target="/ppt/slides/slide4.xml" Id="R3bbf6198538a483a" /><Relationship Type="http://schemas.openxmlformats.org/officeDocument/2006/relationships/slide" Target="/ppt/slides/slide5.xml" Id="Ra3cb4692ffd441f9" /><Relationship Type="http://schemas.openxmlformats.org/officeDocument/2006/relationships/slide" Target="/ppt/slides/slide6.xml" Id="R8e6acb7186f44fe5" /><Relationship Type="http://schemas.openxmlformats.org/officeDocument/2006/relationships/slide" Target="/ppt/slides/slide7.xml" Id="R4e336aa9a6f243f0" /><Relationship Type="http://schemas.openxmlformats.org/officeDocument/2006/relationships/slide" Target="/ppt/slides/slide8.xml" Id="R32113616f6164ed0" /><Relationship Type="http://schemas.openxmlformats.org/officeDocument/2006/relationships/slide" Target="/ppt/slides/slide9.xml" Id="R06087b62881147a4" /><Relationship Type="http://schemas.openxmlformats.org/officeDocument/2006/relationships/slide" Target="/ppt/slides/slide10.xml" Id="R0a838c27fe3d4e9a" /><Relationship Type="http://schemas.openxmlformats.org/officeDocument/2006/relationships/slide" Target="/ppt/slides/slide11.xml" Id="R27af3f8949914028" /><Relationship Type="http://schemas.openxmlformats.org/officeDocument/2006/relationships/slide" Target="/ppt/slides/slide12.xml" Id="R329c1582f5844ff3" /><Relationship Type="http://schemas.openxmlformats.org/officeDocument/2006/relationships/slide" Target="/ppt/slides/slide13.xml" Id="R58ea73ba68994019" /><Relationship Type="http://schemas.openxmlformats.org/officeDocument/2006/relationships/slide" Target="/ppt/slides/slide14.xml" Id="R4485585a2c8846b6" /><Relationship Type="http://schemas.openxmlformats.org/officeDocument/2006/relationships/slide" Target="/ppt/slides/slide15.xml" Id="R741c3156896747ae" /><Relationship Type="http://schemas.openxmlformats.org/officeDocument/2006/relationships/slide" Target="/ppt/slides/slide16.xml" Id="R7406671119284c7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f83db2c64db4be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b702918354047f3" /><Relationship Type="http://schemas.openxmlformats.org/officeDocument/2006/relationships/notesMaster" Target="/ppt/notesMasters/notesMaster1.xml" Id="R37cd90f9d501416c" /></Relationships>
</file>

<file path=ppt/notesSlides/_rels/notesSlide2.xml.rels>&#65279;<?xml version="1.0" encoding="utf-8"?><Relationships xmlns="http://schemas.openxmlformats.org/package/2006/relationships"><Relationship Type="http://schemas.openxmlformats.org/officeDocument/2006/relationships/slide" Target="/ppt/slides/slide2.xml" Id="Rfae256f764f84c1b" /><Relationship Type="http://schemas.openxmlformats.org/officeDocument/2006/relationships/notesMaster" Target="/ppt/notesMasters/notesMaster1.xml" Id="Rb63517a84d134c2e" /></Relationships>
</file>

<file path=ppt/notesSlides/_rels/notesSlide3.xml.rels>&#65279;<?xml version="1.0" encoding="utf-8"?><Relationships xmlns="http://schemas.openxmlformats.org/package/2006/relationships"><Relationship Type="http://schemas.openxmlformats.org/officeDocument/2006/relationships/slide" Target="/ppt/slides/slide3.xml" Id="R7df10cb0fc9d430a" /><Relationship Type="http://schemas.openxmlformats.org/officeDocument/2006/relationships/notesMaster" Target="/ppt/notesMasters/notesMaster1.xml" Id="R02efdf7b4eca4650" /></Relationships>
</file>

<file path=ppt/notesSlides/_rels/notesSlide4.xml.rels>&#65279;<?xml version="1.0" encoding="utf-8"?><Relationships xmlns="http://schemas.openxmlformats.org/package/2006/relationships"><Relationship Type="http://schemas.openxmlformats.org/officeDocument/2006/relationships/slide" Target="/ppt/slides/slide4.xml" Id="Re5861cce27ec4926" /><Relationship Type="http://schemas.openxmlformats.org/officeDocument/2006/relationships/notesMaster" Target="/ppt/notesMasters/notesMaster1.xml" Id="R63e462a346a24820" /></Relationships>
</file>

<file path=ppt/notesSlides/_rels/notesSlide5.xml.rels>&#65279;<?xml version="1.0" encoding="utf-8"?><Relationships xmlns="http://schemas.openxmlformats.org/package/2006/relationships"><Relationship Type="http://schemas.openxmlformats.org/officeDocument/2006/relationships/slide" Target="/ppt/slides/slide5.xml" Id="R12284b16c01c4d35" /><Relationship Type="http://schemas.openxmlformats.org/officeDocument/2006/relationships/notesMaster" Target="/ppt/notesMasters/notesMaster1.xml" Id="R759b2c05861f411a" /></Relationships>
</file>

<file path=ppt/notesSlides/_rels/notesSlide6.xml.rels>&#65279;<?xml version="1.0" encoding="utf-8"?><Relationships xmlns="http://schemas.openxmlformats.org/package/2006/relationships"><Relationship Type="http://schemas.openxmlformats.org/officeDocument/2006/relationships/slide" Target="/ppt/slides/slide6.xml" Id="R698d1599ddaf4d70" /><Relationship Type="http://schemas.openxmlformats.org/officeDocument/2006/relationships/notesMaster" Target="/ppt/notesMasters/notesMaster1.xml" Id="R0c38e5864b4d4647" /></Relationships>
</file>

<file path=ppt/notesSlides/_rels/notesSlide7.xml.rels>&#65279;<?xml version="1.0" encoding="utf-8"?><Relationships xmlns="http://schemas.openxmlformats.org/package/2006/relationships"><Relationship Type="http://schemas.openxmlformats.org/officeDocument/2006/relationships/slide" Target="/ppt/slides/slide7.xml" Id="R8ee1dc34310847bb" /><Relationship Type="http://schemas.openxmlformats.org/officeDocument/2006/relationships/notesMaster" Target="/ppt/notesMasters/notesMaster1.xml" Id="R0acc03fdd93e481b" /></Relationships>
</file>

<file path=ppt/notesSlides/_rels/notesSlide8.xml.rels>&#65279;<?xml version="1.0" encoding="utf-8"?><Relationships xmlns="http://schemas.openxmlformats.org/package/2006/relationships"><Relationship Type="http://schemas.openxmlformats.org/officeDocument/2006/relationships/slide" Target="/ppt/slides/slide8.xml" Id="R555f1a4af7194f46" /><Relationship Type="http://schemas.openxmlformats.org/officeDocument/2006/relationships/notesMaster" Target="/ppt/notesMasters/notesMaster1.xml" Id="Rf38017da94244a6b" /></Relationships>
</file>

<file path=ppt/notesSlides/_rels/notesSlide9.xml.rels>&#65279;<?xml version="1.0" encoding="utf-8"?><Relationships xmlns="http://schemas.openxmlformats.org/package/2006/relationships"><Relationship Type="http://schemas.openxmlformats.org/officeDocument/2006/relationships/slide" Target="/ppt/slides/slide9.xml" Id="Rf84e00bc43e94380" /><Relationship Type="http://schemas.openxmlformats.org/officeDocument/2006/relationships/notesMaster" Target="/ppt/notesMasters/notesMaster1.xml" Id="R6b5f353c9d484db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7106a09d9e94bb1" /><Relationship Type="http://schemas.openxmlformats.org/officeDocument/2006/relationships/notesMaster" Target="/ppt/notesMasters/notesMaster1.xml" Id="Ree53f2ea45894a4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a43b0d93ea24243" /><Relationship Type="http://schemas.openxmlformats.org/officeDocument/2006/relationships/notesMaster" Target="/ppt/notesMasters/notesMaster1.xml" Id="Rd5cca54efb62407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1c5825fbc744968" /><Relationship Type="http://schemas.openxmlformats.org/officeDocument/2006/relationships/notesMaster" Target="/ppt/notesMasters/notesMaster1.xml" Id="Re97ee89ec9fe4b5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6104c8f2a16482d" /><Relationship Type="http://schemas.openxmlformats.org/officeDocument/2006/relationships/notesMaster" Target="/ppt/notesMasters/notesMaster1.xml" Id="R7c3cebc487cd4ed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1d1c9f7cb8446c0" /><Relationship Type="http://schemas.openxmlformats.org/officeDocument/2006/relationships/notesMaster" Target="/ppt/notesMasters/notesMaster1.xml" Id="R4e0424cefaf943c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35c221f1ff74d88" /><Relationship Type="http://schemas.openxmlformats.org/officeDocument/2006/relationships/notesMaster" Target="/ppt/notesMasters/notesMaster1.xml" Id="R0ce89ef0eb6b448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9b165e274a2426f" /><Relationship Type="http://schemas.openxmlformats.org/officeDocument/2006/relationships/notesMaster" Target="/ppt/notesMasters/notesMaster1.xml" Id="Re70c89a5ae81420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investment hypothesis developed from the supplied AI Incumbent Productivity Regime. No affiliation, endorsement, track record or investment return is claimed. Cover is a generated conceptual illustration, not a real company facility. Research version 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Central hypothesis, not an established law. If model access becomes widespread, complementary assets can become a source of differentiated returns. Counter-hypothesis: model commoditization lowers entry barriers and reduces incumbent rents.</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analytical archetypes derived from the supplied regime. They are proposed mechanisms, not forecasts for all firms.</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S01 revised November 2024: 5,172 customer support agents, 15% average increase in issues resolved per hour. METR July 2025 randomized trial: 16 experienced developers and 246 tasks, 19% more completion time with early-2025 tools. Different samples, tasks and outcome measures. The February 2026 follow-up suggests newer tools may help more, but selection and timing problems prevent a clean current estimate. Neither study measures shareholder capture.</a:t>
            </a:r>
          </a:p>
          <a:p xmlns:a="http://schemas.openxmlformats.org/drawingml/2006/main">
            <a:r>
              <a:t/>
            </a:r>
          </a:p>
          <a:p xmlns:a="http://schemas.openxmlformats.org/drawingml/2006/main">
            <a:r>
              <a:t>S01: Generative AI at Work, revised November 2024. https://arxiv.org/abs/2304.11771v2 Published 2024-11-06. Accessed 2026-09-11. Task-level evidence in one setting, not a forecast for all firms or proof of retained profit.</a:t>
            </a:r>
          </a:p>
          <a:p xmlns:a="http://schemas.openxmlformats.org/drawingml/2006/main">
            <a:r>
              <a:t>S02: METR experienced developer randomized trial. https://metr.org/blog/2025-07-10-early-2025-ai-experienced-os-dev-study/ Published 2025-07-10. Accessed 2026-09-11. Historical tools and selected experienced developers. Read S18 before using this as a current capability assessment.</a:t>
            </a:r>
          </a:p>
          <a:p xmlns:a="http://schemas.openxmlformats.org/drawingml/2006/main">
            <a:r>
              <a:t>S18: METR update to developer productivity experiment. https://metr.org/blog/2026-02-24-uplift-update/ Published 2026-02-24. Accessed 2026-09-11. Do not treat the historical slowdown as a current universal effect, or newer biased samples as a precise universal speedup.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Sanofi source describes AI methods for discovery and clinical data integration, updated September 2023. No claim is made that any named company has demonstrated better Phase II/III success from AI. The Roche and AstraZeneca references are candidate hypotheses, not sourced deployment conclusions. Sources of advantage require rights, usable historical failures and prospective validation.</a:t>
            </a:r>
          </a:p>
          <a:p xmlns:a="http://schemas.openxmlformats.org/drawingml/2006/main">
            <a:r>
              <a:t/>
            </a:r>
          </a:p>
          <a:p xmlns:a="http://schemas.openxmlformats.org/drawingml/2006/main">
            <a:r>
              <a:t>S03: Sanofi artificial intelligence in R&amp;D. https://www.sanofi.com/en/our-science/digital-artificial-intelligence/artificial-intelligence-rd Published 2023-09. Accessed 2026-09-11. Dated deployment description. Does not demonstrate improved Phase II or Phase III success.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RELX describes Protégé in its 2025 annual report. Thomson Reuters and Wolters Kluwer offer AI-enabled professional tools. Product descriptions do not establish net profit. Thomson Reuters says customer content and prompts are not used to train or improve CoCounsel or underlying models. Separate content ownership, customer context and pooled learning rights.</a:t>
            </a:r>
          </a:p>
          <a:p xmlns:a="http://schemas.openxmlformats.org/drawingml/2006/main">
            <a:r>
              <a:t/>
            </a:r>
          </a:p>
          <a:p xmlns:a="http://schemas.openxmlformats.org/drawingml/2006/main">
            <a:r>
              <a:t>S04: RELX 2025 annual report: market segments. https://www.relx.com/~/media/Files/R/RELX-Group/documents/reports/annual-reports/2025-ar-sections/relx-2025-market-segments.pdf Published 2026-02-19. Accessed 2026-09-11. Product and adoption claims are management-reported. They do not isolate incremental AI profit.</a:t>
            </a:r>
          </a:p>
          <a:p xmlns:a="http://schemas.openxmlformats.org/drawingml/2006/main">
            <a:r>
              <a:t>S05: Thomson Reuters AI for professionals. https://www.thomsonreuters.com/en/artificial-intelligence Published undated; accessed 2026-09-11. Accessed 2026-09-11. Commercial description and selected customer examples. Do not assume pooled customer-data training rights.</a:t>
            </a:r>
          </a:p>
          <a:p xmlns:a="http://schemas.openxmlformats.org/drawingml/2006/main">
            <a:r>
              <a:t>S06: Wolters Kluwer tax and accounting solutions. https://www.wolterskluwer.com/en/solutions/tax-accounting-us Published undated; accessed 2026-09-11. Accessed 2026-09-11. Product availability supports a use-case lead, not incremental group-level financial returns.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Siemens May 2025 release describes available industrial copilots and customer implementations. Its headline productivity ambition is not an achieved result. Amazon describes DeepFleet for robot coordination. Siemens reports customer use. Amazon announces the new model. Neither source establishes controlled evidence of consolidated profit.</a:t>
            </a:r>
          </a:p>
          <a:p xmlns:a="http://schemas.openxmlformats.org/drawingml/2006/main">
            <a:r>
              <a:t/>
            </a:r>
          </a:p>
          <a:p xmlns:a="http://schemas.openxmlformats.org/drawingml/2006/main">
            <a:r>
              <a:t>S20: Siemens introduces AI agents for industrial automation. https://press.siemens.com/global/en/pressrelease/siemens-introduces-ai-agents-industrial-automation Published 2025-05-12. Accessed 2026-09-11. The headline productivity ambition is a target. Pilot maintenance results are not group-level margin evidence.</a:t>
            </a:r>
          </a:p>
          <a:p xmlns:a="http://schemas.openxmlformats.org/drawingml/2006/main">
            <a:r>
              <a:t>S21: Amazon million robots and DeepFleet model. https://www.aboutamazon.com/news/operations/amazon-million-robots-ai-foundation-model Published undated; accessed 2026-09-11. Accessed 2026-09-11. Operational claims do not isolate return on total robotics investment or consolidated AI profit.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Derived from framework/valuation.md. Revenue 100, cost 80, operating profit 20, eligible cost 40 and recurring AI expense 1. Net benefit = eligible cost × task efficiency × realization × retained share − recurring expense. Weak capture: .15 × .40 × .25 gives profit 19.6. Central: .15 × .60 × .50 gives 20.8. Strong: .25 × .80 × .75 gives 25.0. Incremental capital spending and tax are not included in this operating-profit illustration. They must be added in a valuation.</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capture mechanisms are analytical hypotheses. Contract-level diligence is mandatory. The table does not claim actual pass-through percentages.</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Counts generated from universe/statistics.json and the 100-company register. All 11 broad equity sectors have coverage. Research groupings are not official GICS classifications. There are 86 E0 names, 9 E1 and 5 E2 at initial release. No E3/E4 or completed valuations. Breadth is not evidence of diversification.</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Derived from research/priority-queue.md. These names are chosen for information gain across mechanisms, not a claimed expected-return rank. Company-specific source coverage and evidence stage are visible in the repository. The initial queue does not establish undervaluation.</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current security prices, consensus estimates, fair values or expected returns have been assessed. This slide states the valuation method and desired investment profile. Use a no-incremental-AI downside case, explicit adoption scenarios and reverse valuation. Avoid double counting pipeline, margin and multiple effects.</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Alternative hypothesis: commoditized intelligence lowers entry barriers, lets agents bypass incumbent interfaces, enables data portability, shifts surplus to consumers and suppliers, and raises verification costs. This is a core part of the investment thesis rather than a generic disclaimer.</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release completes G0 candidate architecture and a first research universe. G1 qualification, G2 operating evidence, G3 valuation and G4 portfolio review remain company-specific future work. No fund track record, return projection or capital allocation is presented.</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Closing statement of the investment hypothesis. No guarantee is implied. The programme seeks a future evidence-supported and price-sensitive shortlist, while this release supplies the industry framework, preliminary universe and research priorities.</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22 primary-source records, the original user-provided thesis and source brief, industry hypotheses, scoring definitions and research templates are in the repository. This deck summarizes a research programme and contains no audited fund performance or offer terms.</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0ce55d3abd3475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98320e5d7064cbc" /><Relationship Type="http://schemas.openxmlformats.org/officeDocument/2006/relationships/slideLayout" Target="/ppt/slideLayouts/slideLayout1.xml" Id="R7bab05be26454b0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bab05be26454b0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3d3a5be2888468e" /><Relationship Type="http://schemas.openxmlformats.org/officeDocument/2006/relationships/image" Target="/ppt/media/image.jpeg" Id="R6f0a956929af4229" /><Relationship Type="http://schemas.openxmlformats.org/officeDocument/2006/relationships/notesSlide" Target="/ppt/notesSlides/notesSlide1.xml" Id="R986f3733b61949b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93f2adbc3e547e0" /><Relationship Type="http://schemas.openxmlformats.org/officeDocument/2006/relationships/notesSlide" Target="/ppt/notesSlides/notesSlide2.xml" Id="Rcdcda99b435d42a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cc5ee3bf0434779" /><Relationship Type="http://schemas.openxmlformats.org/officeDocument/2006/relationships/notesSlide" Target="/ppt/notesSlides/notesSlide3.xml" Id="R391923eca2ed46f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b0cc455067c49e5" /><Relationship Type="http://schemas.openxmlformats.org/officeDocument/2006/relationships/notesSlide" Target="/ppt/notesSlides/notesSlide4.xml" Id="Rb8e4c0b4b828445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a218f9079734c96" /><Relationship Type="http://schemas.openxmlformats.org/officeDocument/2006/relationships/notesSlide" Target="/ppt/notesSlides/notesSlide5.xml" Id="R28b6d2acd37d4cf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ef66cf198c24252" /><Relationship Type="http://schemas.openxmlformats.org/officeDocument/2006/relationships/notesSlide" Target="/ppt/notesSlides/notesSlide6.xml" Id="R53034417914541c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70ef245926c43a7" /><Relationship Type="http://schemas.openxmlformats.org/officeDocument/2006/relationships/notesSlide" Target="/ppt/notesSlides/notesSlide7.xml" Id="Rea33b36a5b914cb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bcc19007a224685" /><Relationship Type="http://schemas.openxmlformats.org/officeDocument/2006/relationships/chart" Target="/ppt/slides/charts/chart1.xml" Id="Rffd86f0d1e194a3a" /><Relationship Type="http://schemas.openxmlformats.org/officeDocument/2006/relationships/notesSlide" Target="/ppt/notesSlides/notesSlide8.xml" Id="Rca2dd0bbf369448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c4f48dd74cc49d5" /><Relationship Type="http://schemas.openxmlformats.org/officeDocument/2006/relationships/notesSlide" Target="/ppt/notesSlides/notesSlide9.xml" Id="Rbc529d543620405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329c4b92b1c476f" /><Relationship Type="http://schemas.openxmlformats.org/officeDocument/2006/relationships/notesSlide" Target="/ppt/notesSlides/notesSlide10.xml" Id="R7cd43d28273b478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29d8c46d5854b89" /><Relationship Type="http://schemas.openxmlformats.org/officeDocument/2006/relationships/notesSlide" Target="/ppt/notesSlides/notesSlide11.xml" Id="Redfbef84acc9467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51c5f846fc947d1" /><Relationship Type="http://schemas.openxmlformats.org/officeDocument/2006/relationships/notesSlide" Target="/ppt/notesSlides/notesSlide12.xml" Id="R6536c88fbe1348a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f812c47b687433e" /><Relationship Type="http://schemas.openxmlformats.org/officeDocument/2006/relationships/notesSlide" Target="/ppt/notesSlides/notesSlide13.xml" Id="R5a471719560c4bc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e37bad0a6bf4532" /><Relationship Type="http://schemas.openxmlformats.org/officeDocument/2006/relationships/notesSlide" Target="/ppt/notesSlides/notesSlide14.xml" Id="R6de481a0f7e24cc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50d517dd64b4642" /><Relationship Type="http://schemas.openxmlformats.org/officeDocument/2006/relationships/notesSlide" Target="/ppt/notesSlides/notesSlide15.xml" Id="R889d7d4fb09d4a2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669fc4d626a44bfb" /><Relationship Type="http://schemas.openxmlformats.org/officeDocument/2006/relationships/notesSlide" Target="/ppt/notesSlides/notesSlide16.xml" Id="R216e65d685734dff"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Operating profit</c:v>
          </c:tx>
          <c:spPr>
            <a:solidFill xmlns:a="http://schemas.openxmlformats.org/drawingml/2006/main">
              <a:srgbClr val="527D70"/>
            </a:solidFill>
          </c:spPr>
          <c:dPt>
            <c:idx val="0"/>
            <c:invertIfNegative val="0"/>
            <c:spPr>
              <a:solidFill xmlns:a="http://schemas.openxmlformats.org/drawingml/2006/main">
                <a:srgbClr val="9BA5A0"/>
              </a:solidFill>
            </c:spPr>
          </c:dPt>
          <c:dPt>
            <c:idx val="1"/>
            <c:invertIfNegative val="0"/>
            <c:spPr>
              <a:solidFill xmlns:a="http://schemas.openxmlformats.org/drawingml/2006/main">
                <a:srgbClr val="BC7B63"/>
              </a:solidFill>
            </c:spPr>
          </c:dPt>
          <c:dPt>
            <c:idx val="3"/>
            <c:invertIfNegative val="0"/>
            <c:spPr>
              <a:solidFill xmlns:a="http://schemas.openxmlformats.org/drawingml/2006/main">
                <a:srgbClr val="C6A66A"/>
              </a:solidFill>
            </c:spPr>
          </c:dPt>
          <c:cat>
            <c:strRef>
              <c:f>'Chart Data'!$A$2:$A$5</c:f>
              <c:strCache>
                <c:ptCount val="4"/>
                <c:pt idx="0">
                  <c:v>Starting profit</c:v>
                </c:pt>
                <c:pt idx="1">
                  <c:v>Weak capture</c:v>
                </c:pt>
                <c:pt idx="2">
                  <c:v>Central case</c:v>
                </c:pt>
                <c:pt idx="3">
                  <c:v>Strong capture</c:v>
                </c:pt>
              </c:strCache>
            </c:strRef>
          </c:cat>
          <c:val>
            <c:numRef>
              <c:f>'Chart Data'!$B$2:$B$5</c:f>
              <c:numCache>
                <c:formatCode>0.0</c:formatCode>
                <c:ptCount val="4"/>
                <c:pt idx="0">
                  <c:v>20</c:v>
                </c:pt>
                <c:pt idx="1">
                  <c:v>19.6</c:v>
                </c:pt>
                <c:pt idx="2">
                  <c:v>20.8</c:v>
                </c:pt>
                <c:pt idx="3">
                  <c:v>25</c:v>
                </c:pt>
              </c:numCache>
            </c:numRef>
          </c:val>
        </c:ser>
        <c:dLbls>
          <c:txPr>
            <a:bodyPr xmlns:a="http://schemas.openxmlformats.org/drawingml/2006/main" anchorCtr="1"/>
            <a:lstStyle xmlns:a="http://schemas.openxmlformats.org/drawingml/2006/main"/>
            <a:p xmlns:a="http://schemas.openxmlformats.org/drawingml/2006/main">
              <a:pPr>
                <a:defRPr sz="1950" b="1">
                  <a:solidFill>
                    <a:srgbClr val="14191B"/>
                  </a:solidFill>
                  <a:latin typeface="Nimbus Sans"/>
                  <a:ea typeface="Nimbus Sans"/>
                  <a:cs typeface="Nimbus Sans"/>
                </a:defRPr>
              </a:pPr>
            </a: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BBDB6"/>
            </a:solidFill>
          </a:ln>
        </c:spPr>
        <c:txPr>
          <a:bodyPr xmlns:a="http://schemas.openxmlformats.org/drawingml/2006/main" anchorCtr="1"/>
          <a:lstStyle xmlns:a="http://schemas.openxmlformats.org/drawingml/2006/main"/>
          <a:p xmlns:a="http://schemas.openxmlformats.org/drawingml/2006/main">
            <a:pPr>
              <a:defRPr sz="1500">
                <a:solidFill>
                  <a:srgbClr val="14191B"/>
                </a:solidFill>
                <a:latin typeface="Nimbus Sans"/>
                <a:ea typeface="Nimbus Sans"/>
                <a:cs typeface="Nimbus Sans"/>
              </a:defRPr>
            </a:pPr>
          </a:p>
        </c:txPr>
        <c:crossAx val="48672768"/>
      </c:catAx>
      <c:valAx>
        <c:axId val="48672768"/>
        <c:scaling>
          <c:orientation val="minMax"/>
          <c:max val="30"/>
          <c:min val="0"/>
        </c:scaling>
        <c:delete val="0"/>
        <c:axPos val="l"/>
        <c:majorGridlines>
          <c:spPr>
            <a:ln xmlns:a="http://schemas.openxmlformats.org/drawingml/2006/main" w="4763">
              <a:solidFill>
                <a:srgbClr val="D6D7CE"/>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26A6B"/>
                </a:solidFill>
                <a:latin typeface="Nimbus Sans"/>
                <a:ea typeface="Nimbus Sans"/>
                <a:cs typeface="Nimbus Sans"/>
              </a:defRPr>
            </a:pPr>
          </a:p>
        </c:txPr>
        <c:crossAx val="48650112"/>
        <c:crossBetween val="between"/>
        <c:majorUnit val="10"/>
      </c:valAx>
      <c:spPr>
        <a:solidFill xmlns:a="http://schemas.openxmlformats.org/drawingml/2006/main">
          <a:srgbClr val="F3F0E8"/>
        </a:solidFill>
      </c:spPr>
    </c:plotArea>
    <c:plotVisOnly val="1"/>
  </c:chart>
  <c:spPr>
    <a:solidFill xmlns:a="http://schemas.openxmlformats.org/drawingml/2006/main">
      <a:srgbClr val="F3F0E8"/>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4191B"/>
        </a:solidFill>
      </p:bgPr>
    </p:bg>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6f0a956929af422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836DDCB-6210-4241-85C1-7F9656332776}"/>
              </a:ext>
            </a:extLst>
          </p:cNvPr>
          <p:cNvSpPr>
            <a:spLocks xmlns:a="http://schemas.openxmlformats.org/drawingml/2006/main" noGrp="1"/>
          </p:cNvSpPr>
          <p:nvPr/>
        </p:nvSpPr>
        <p:spPr>
          <a:xfrm xmlns:a="http://schemas.openxmlformats.org/drawingml/2006/main">
            <a:off x="685800" y="1714500"/>
            <a:ext cx="638175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5475" b="1">
                <a:solidFill>
                  <a:srgbClr val="FCFBF7"/>
                </a:solidFill>
                <a:latin typeface="Nimbus Sans"/>
                <a:ea typeface="Nimbus Sans"/>
                <a:cs typeface="Nimbus Sans"/>
              </a:defRPr>
            </a:pPr>
            <a:r>
              <a:rPr sz="5475" b="1">
                <a:solidFill>
                  <a:srgbClr val="FCFBF7"/>
                </a:solidFill>
                <a:latin typeface="Nimbus Sans"/>
                <a:ea typeface="Nimbus Sans"/>
                <a:cs typeface="Nimbus Sans"/>
              </a:rPr>
              <a:t>THE INCUMBENT</a:t>
            </a:r>
          </a:p>
          <a:p xmlns:a="http://schemas.openxmlformats.org/drawingml/2006/main">
            <a:pPr>
              <a:defRPr sz="5475" b="1">
                <a:solidFill>
                  <a:srgbClr val="FCFBF7"/>
                </a:solidFill>
                <a:latin typeface="Nimbus Sans"/>
                <a:ea typeface="Nimbus Sans"/>
                <a:cs typeface="Nimbus Sans"/>
              </a:defRPr>
            </a:pPr>
            <a:r>
              <a:rPr sz="5475" b="1">
                <a:solidFill>
                  <a:srgbClr val="FCFBF7"/>
                </a:solidFill>
                <a:latin typeface="Nimbus Sans"/>
                <a:ea typeface="Nimbus Sans"/>
                <a:cs typeface="Nimbus Sans"/>
              </a:rPr>
              <a:t>ADVANTAGE</a:t>
            </a:r>
          </a:p>
        </p:txBody>
      </p:sp>
      <p:sp>
        <p:nvSpPr>
          <p:cNvPr id="3" name="">
            <a:extLst xmlns:a="http://schemas.openxmlformats.org/drawingml/2006/main">
              <a:ext uri="{FF2B5EF4-FFF2-40B4-BE49-F238E27FC236}">
                <a16:creationId xmlns:a16="http://schemas.microsoft.com/office/drawing/2014/main" id="{92DF2A0F-A92F-4352-B84E-AA8C2EBFE537}"/>
              </a:ext>
            </a:extLst>
          </p:cNvPr>
          <p:cNvSpPr>
            <a:spLocks xmlns:a="http://schemas.openxmlformats.org/drawingml/2006/main" noGrp="1"/>
          </p:cNvSpPr>
          <p:nvPr/>
        </p:nvSpPr>
        <p:spPr>
          <a:xfrm xmlns:a="http://schemas.openxmlformats.org/drawingml/2006/main">
            <a:off x="723900" y="4095750"/>
            <a:ext cx="6096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B9C0BE"/>
                </a:solidFill>
                <a:latin typeface="Nimbus Sans"/>
                <a:ea typeface="Nimbus Sans"/>
                <a:cs typeface="Nimbus Sans"/>
              </a:defRPr>
            </a:pPr>
            <a:r>
              <a:rPr sz="2325" b="0">
                <a:solidFill>
                  <a:srgbClr val="B9C0BE"/>
                </a:solidFill>
                <a:latin typeface="Nimbus Sans"/>
                <a:ea typeface="Nimbus Sans"/>
                <a:cs typeface="Nimbus Sans"/>
              </a:rPr>
              <a:t>AI can make scarce business</a:t>
            </a:r>
          </a:p>
          <a:p xmlns:a="http://schemas.openxmlformats.org/drawingml/2006/main">
            <a:pPr>
              <a:defRPr sz="2325" b="0">
                <a:solidFill>
                  <a:srgbClr val="B9C0BE"/>
                </a:solidFill>
                <a:latin typeface="Nimbus Sans"/>
                <a:ea typeface="Nimbus Sans"/>
                <a:cs typeface="Nimbus Sans"/>
              </a:defRPr>
            </a:pPr>
            <a:r>
              <a:rPr sz="2325" b="0">
                <a:solidFill>
                  <a:srgbClr val="B9C0BE"/>
                </a:solidFill>
                <a:latin typeface="Nimbus Sans"/>
                <a:ea typeface="Nimbus Sans"/>
                <a:cs typeface="Nimbus Sans"/>
              </a:rPr>
              <a:t>assets more productive</a:t>
            </a:r>
          </a:p>
        </p:txBody>
      </p:sp>
      <p:sp>
        <p:nvSpPr>
          <p:cNvPr id="4" name="">
            <a:extLst xmlns:a="http://schemas.openxmlformats.org/drawingml/2006/main">
              <a:ext uri="{FF2B5EF4-FFF2-40B4-BE49-F238E27FC236}">
                <a16:creationId xmlns:a16="http://schemas.microsoft.com/office/drawing/2014/main" id="{D047CE39-DC87-49DF-ACC2-6EAEDCD36DCC}"/>
              </a:ext>
            </a:extLst>
          </p:cNvPr>
          <p:cNvSpPr>
            <a:spLocks xmlns:a="http://schemas.openxmlformats.org/drawingml/2006/main" noGrp="1"/>
          </p:cNvSpPr>
          <p:nvPr/>
        </p:nvSpPr>
        <p:spPr>
          <a:xfrm xmlns:a="http://schemas.openxmlformats.org/drawingml/2006/main">
            <a:off x="723900" y="5781675"/>
            <a:ext cx="7239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B9C0BE"/>
                </a:solidFill>
                <a:latin typeface="Nimbus Sans"/>
                <a:ea typeface="Nimbus Sans"/>
                <a:cs typeface="Nimbus Sans"/>
              </a:defRPr>
            </a:pPr>
            <a:r>
              <a:rPr sz="1500" b="0">
                <a:solidFill>
                  <a:srgbClr val="B9C0BE"/>
                </a:solidFill>
                <a:latin typeface="Nimbus Sans"/>
                <a:ea typeface="Nimbus Sans"/>
                <a:cs typeface="Nimbus Sans"/>
              </a:rPr>
              <a:t>Ryan Matthews</a:t>
            </a:r>
          </a:p>
          <a:p xmlns:a="http://schemas.openxmlformats.org/drawingml/2006/main">
            <a:pPr>
              <a:defRPr sz="1500" b="0">
                <a:solidFill>
                  <a:srgbClr val="B9C0BE"/>
                </a:solidFill>
                <a:latin typeface="Nimbus Sans"/>
                <a:ea typeface="Nimbus Sans"/>
                <a:cs typeface="Nimbus Sans"/>
              </a:defRPr>
            </a:pPr>
            <a:r>
              <a:rPr sz="1500" b="0">
                <a:solidFill>
                  <a:srgbClr val="B9C0BE"/>
                </a:solidFill>
                <a:latin typeface="Nimbus Sans"/>
                <a:ea typeface="Nimbus Sans"/>
                <a:cs typeface="Nimbus Sans"/>
              </a:rPr>
              <a:t>Investment research thesis · September 2026</a:t>
            </a:r>
          </a:p>
        </p:txBody>
      </p:sp>
    </p:spTree>
    <p:extLst>
      <p:ext uri="{BB962C8B-B14F-4D97-AF65-F5344CB8AC3E}">
        <p14:creationId xmlns:p14="http://schemas.microsoft.com/office/powerpoint/2010/main" val="439576430"/>
      </p:ext>
    </p:extLst>
  </p:cSld>
</p:sld>
</file>

<file path=ppt/slides/slide2.xml><?xml version="1.0" encoding="utf-8"?>
<p:sld xmlns:p="http://schemas.openxmlformats.org/presentationml/2006/main">
  <p:cSld>
    <p:bg>
      <p:bgPr>
        <a:solidFill xmlns:a="http://schemas.openxmlformats.org/drawingml/2006/main">
          <a:srgbClr val="14191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217080F-40AE-42C0-B0CE-7CDC3294EA93}"/>
              </a:ext>
            </a:extLst>
          </p:cNvPr>
          <p:cNvSpPr>
            <a:spLocks xmlns:a="http://schemas.openxmlformats.org/drawingml/2006/main" noGrp="1"/>
          </p:cNvSpPr>
          <p:nvPr/>
        </p:nvSpPr>
        <p:spPr>
          <a:xfrm xmlns:a="http://schemas.openxmlformats.org/drawingml/2006/main">
            <a:off x="666750" y="552450"/>
            <a:ext cx="107632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525" b="1">
                <a:solidFill>
                  <a:srgbClr val="FCFBF7"/>
                </a:solidFill>
                <a:latin typeface="Nimbus Sans"/>
                <a:ea typeface="Nimbus Sans"/>
                <a:cs typeface="Nimbus Sans"/>
              </a:defRPr>
            </a:pPr>
            <a:r>
              <a:rPr sz="3525" b="1">
                <a:solidFill>
                  <a:srgbClr val="FCFBF7"/>
                </a:solidFill>
                <a:latin typeface="Nimbus Sans"/>
                <a:ea typeface="Nimbus Sans"/>
                <a:cs typeface="Nimbus Sans"/>
              </a:rPr>
              <a:t>Abundant intelligence can make</a:t>
            </a:r>
          </a:p>
          <a:p xmlns:a="http://schemas.openxmlformats.org/drawingml/2006/main">
            <a:pPr>
              <a:defRPr sz="3525" b="1">
                <a:solidFill>
                  <a:srgbClr val="FCFBF7"/>
                </a:solidFill>
                <a:latin typeface="Nimbus Sans"/>
                <a:ea typeface="Nimbus Sans"/>
                <a:cs typeface="Nimbus Sans"/>
              </a:defRPr>
            </a:pPr>
            <a:r>
              <a:rPr sz="3525" b="1">
                <a:solidFill>
                  <a:srgbClr val="FCFBF7"/>
                </a:solidFill>
                <a:latin typeface="Nimbus Sans"/>
                <a:ea typeface="Nimbus Sans"/>
                <a:cs typeface="Nimbus Sans"/>
              </a:rPr>
              <a:t>scarce assets more valuable</a:t>
            </a:r>
          </a:p>
        </p:txBody>
      </p:sp>
      <p:sp>
        <p:nvSpPr>
          <p:cNvPr id="2" name="">
            <a:extLst xmlns:a="http://schemas.openxmlformats.org/drawingml/2006/main">
              <a:ext uri="{FF2B5EF4-FFF2-40B4-BE49-F238E27FC236}">
                <a16:creationId xmlns:a16="http://schemas.microsoft.com/office/drawing/2014/main" id="{9FE844BC-C0FD-4377-ACD7-1551FD05A094}"/>
              </a:ext>
            </a:extLst>
          </p:cNvPr>
          <p:cNvSpPr>
            <a:spLocks xmlns:a="http://schemas.openxmlformats.org/drawingml/2006/main" noGrp="1"/>
          </p:cNvSpPr>
          <p:nvPr/>
        </p:nvSpPr>
        <p:spPr>
          <a:xfrm xmlns:a="http://schemas.openxmlformats.org/drawingml/2006/main">
            <a:off x="11191875" y="6334125"/>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B9C0BE"/>
                </a:solidFill>
                <a:latin typeface="Nimbus Sans"/>
                <a:ea typeface="Nimbus Sans"/>
                <a:cs typeface="Nimbus Sans"/>
              </a:defRPr>
            </a:pPr>
            <a:r>
              <a:rPr sz="1275" b="0">
                <a:solidFill>
                  <a:srgbClr val="B9C0BE"/>
                </a:solidFill>
                <a:latin typeface="Nimbus Sans"/>
                <a:ea typeface="Nimbus Sans"/>
                <a:cs typeface="Nimbus Sans"/>
              </a:rPr>
              <a:t>02</a:t>
            </a:r>
          </a:p>
        </p:txBody>
      </p:sp>
      <p:sp>
        <p:nvSpPr>
          <p:cNvPr id="3" name="">
            <a:extLst xmlns:a="http://schemas.openxmlformats.org/drawingml/2006/main">
              <a:ext uri="{FF2B5EF4-FFF2-40B4-BE49-F238E27FC236}">
                <a16:creationId xmlns:a16="http://schemas.microsoft.com/office/drawing/2014/main" id="{FF2ED1A8-873F-4FBC-8759-9B939E6EAAD3}"/>
              </a:ext>
            </a:extLst>
          </p:cNvPr>
          <p:cNvSpPr>
            <a:spLocks xmlns:a="http://schemas.openxmlformats.org/drawingml/2006/main" noGrp="1"/>
          </p:cNvSpPr>
          <p:nvPr/>
        </p:nvSpPr>
        <p:spPr>
          <a:xfrm xmlns:a="http://schemas.openxmlformats.org/drawingml/2006/main">
            <a:off x="704850" y="2447925"/>
            <a:ext cx="10382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0">
                <a:solidFill>
                  <a:srgbClr val="B9C0BE"/>
                </a:solidFill>
                <a:latin typeface="Nimbus Sans"/>
                <a:ea typeface="Nimbus Sans"/>
                <a:cs typeface="Nimbus Sans"/>
              </a:defRPr>
            </a:pPr>
            <a:r>
              <a:rPr sz="2850" b="0">
                <a:solidFill>
                  <a:srgbClr val="B9C0BE"/>
                </a:solidFill>
                <a:latin typeface="Nimbus Sans"/>
                <a:ea typeface="Nimbus Sans"/>
                <a:cs typeface="Nimbus Sans"/>
              </a:rPr>
              <a:t>The model is available to many firms.</a:t>
            </a:r>
          </a:p>
        </p:txBody>
      </p:sp>
      <p:sp>
        <p:nvSpPr>
          <p:cNvPr id="4" name="">
            <a:extLst xmlns:a="http://schemas.openxmlformats.org/drawingml/2006/main">
              <a:ext uri="{FF2B5EF4-FFF2-40B4-BE49-F238E27FC236}">
                <a16:creationId xmlns:a16="http://schemas.microsoft.com/office/drawing/2014/main" id="{7DECF63E-9020-434E-8F3E-940F3353824E}"/>
              </a:ext>
            </a:extLst>
          </p:cNvPr>
          <p:cNvSpPr>
            <a:spLocks xmlns:a="http://schemas.openxmlformats.org/drawingml/2006/main" noGrp="1"/>
          </p:cNvSpPr>
          <p:nvPr/>
        </p:nvSpPr>
        <p:spPr>
          <a:xfrm xmlns:a="http://schemas.openxmlformats.org/drawingml/2006/main">
            <a:off x="704850" y="3314700"/>
            <a:ext cx="105727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FCFBF7"/>
                </a:solidFill>
                <a:latin typeface="Nimbus Sans"/>
                <a:ea typeface="Nimbus Sans"/>
                <a:cs typeface="Nimbus Sans"/>
              </a:defRPr>
            </a:pPr>
            <a:r>
              <a:rPr sz="2925" b="1">
                <a:solidFill>
                  <a:srgbClr val="FCFBF7"/>
                </a:solidFill>
                <a:latin typeface="Nimbus Sans"/>
                <a:ea typeface="Nimbus Sans"/>
                <a:cs typeface="Nimbus Sans"/>
              </a:rPr>
              <a:t>The clinical history, customer relationship</a:t>
            </a:r>
          </a:p>
          <a:p xmlns:a="http://schemas.openxmlformats.org/drawingml/2006/main">
            <a:pPr>
              <a:defRPr sz="2925" b="1">
                <a:solidFill>
                  <a:srgbClr val="FCFBF7"/>
                </a:solidFill>
                <a:latin typeface="Nimbus Sans"/>
                <a:ea typeface="Nimbus Sans"/>
                <a:cs typeface="Nimbus Sans"/>
              </a:defRPr>
            </a:pPr>
            <a:r>
              <a:rPr sz="2925" b="1">
                <a:solidFill>
                  <a:srgbClr val="FCFBF7"/>
                </a:solidFill>
                <a:latin typeface="Nimbus Sans"/>
                <a:ea typeface="Nimbus Sans"/>
                <a:cs typeface="Nimbus Sans"/>
              </a:rPr>
              <a:t>and installed network may take decades to build.</a:t>
            </a:r>
          </a:p>
        </p:txBody>
      </p:sp>
      <p:sp>
        <p:nvSpPr>
          <p:cNvPr id="5" name="">
            <a:extLst xmlns:a="http://schemas.openxmlformats.org/drawingml/2006/main">
              <a:ext uri="{FF2B5EF4-FFF2-40B4-BE49-F238E27FC236}">
                <a16:creationId xmlns:a16="http://schemas.microsoft.com/office/drawing/2014/main" id="{433213EE-270F-467E-8D6D-4A834DB84CD8}"/>
              </a:ext>
            </a:extLst>
          </p:cNvPr>
          <p:cNvSpPr>
            <a:spLocks xmlns:a="http://schemas.openxmlformats.org/drawingml/2006/main" noGrp="1"/>
          </p:cNvSpPr>
          <p:nvPr/>
        </p:nvSpPr>
        <p:spPr>
          <a:xfrm xmlns:a="http://schemas.openxmlformats.org/drawingml/2006/main">
            <a:off x="704850" y="5381625"/>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C6A66A"/>
                </a:solidFill>
                <a:latin typeface="Nimbus Sans"/>
                <a:ea typeface="Nimbus Sans"/>
                <a:cs typeface="Nimbus Sans"/>
              </a:defRPr>
            </a:pPr>
            <a:r>
              <a:rPr sz="2100" b="0">
                <a:solidFill>
                  <a:srgbClr val="C6A66A"/>
                </a:solidFill>
                <a:latin typeface="Nimbus Sans"/>
                <a:ea typeface="Nimbus Sans"/>
                <a:cs typeface="Nimbus Sans"/>
              </a:rPr>
              <a:t>The investment question is who converts those assets into retained cash earnings.</a:t>
            </a:r>
          </a:p>
        </p:txBody>
      </p:sp>
    </p:spTree>
    <p:extLst>
      <p:ext uri="{BB962C8B-B14F-4D97-AF65-F5344CB8AC3E}">
        <p14:creationId xmlns:p14="http://schemas.microsoft.com/office/powerpoint/2010/main" val="2060858520"/>
      </p:ext>
    </p:extLst>
  </p:cSld>
</p:sld>
</file>

<file path=ppt/slides/slide3.xml><?xml version="1.0" encoding="utf-8"?>
<p:sld xmlns:p="http://schemas.openxmlformats.org/presentationml/2006/main">
  <p:cSld>
    <p:bg>
      <p:bgPr>
        <a:solidFill xmlns:a="http://schemas.openxmlformats.org/drawingml/2006/main">
          <a:srgbClr val="F3F0E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E5C4B69-7462-4BB9-9BD3-092D31B450D3}"/>
              </a:ext>
            </a:extLst>
          </p:cNvPr>
          <p:cNvSpPr>
            <a:spLocks xmlns:a="http://schemas.openxmlformats.org/drawingml/2006/main" noGrp="1"/>
          </p:cNvSpPr>
          <p:nvPr/>
        </p:nvSpPr>
        <p:spPr>
          <a:xfrm xmlns:a="http://schemas.openxmlformats.org/drawingml/2006/main">
            <a:off x="666750" y="552450"/>
            <a:ext cx="107632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525" b="1">
                <a:solidFill>
                  <a:srgbClr val="14191B"/>
                </a:solidFill>
                <a:latin typeface="Nimbus Sans"/>
                <a:ea typeface="Nimbus Sans"/>
                <a:cs typeface="Nimbus Sans"/>
              </a:defRPr>
            </a:pPr>
            <a:r>
              <a:rPr sz="3525" b="1">
                <a:solidFill>
                  <a:srgbClr val="14191B"/>
                </a:solidFill>
                <a:latin typeface="Nimbus Sans"/>
                <a:ea typeface="Nimbus Sans"/>
                <a:cs typeface="Nimbus Sans"/>
              </a:rPr>
              <a:t>Four paths to better economics</a:t>
            </a:r>
          </a:p>
        </p:txBody>
      </p:sp>
      <p:sp>
        <p:nvSpPr>
          <p:cNvPr id="2" name="">
            <a:extLst xmlns:a="http://schemas.openxmlformats.org/drawingml/2006/main">
              <a:ext uri="{FF2B5EF4-FFF2-40B4-BE49-F238E27FC236}">
                <a16:creationId xmlns:a16="http://schemas.microsoft.com/office/drawing/2014/main" id="{C43DC861-D2E9-4DAC-AE2E-E575FDBB371D}"/>
              </a:ext>
            </a:extLst>
          </p:cNvPr>
          <p:cNvSpPr>
            <a:spLocks xmlns:a="http://schemas.openxmlformats.org/drawingml/2006/main" noGrp="1"/>
          </p:cNvSpPr>
          <p:nvPr/>
        </p:nvSpPr>
        <p:spPr>
          <a:xfrm xmlns:a="http://schemas.openxmlformats.org/drawingml/2006/main">
            <a:off x="685800" y="1619250"/>
            <a:ext cx="10572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626A6B"/>
                </a:solidFill>
                <a:latin typeface="Nimbus Sans"/>
                <a:ea typeface="Nimbus Sans"/>
                <a:cs typeface="Nimbus Sans"/>
              </a:defRPr>
            </a:pPr>
            <a:r>
              <a:rPr sz="1875" b="0">
                <a:solidFill>
                  <a:srgbClr val="626A6B"/>
                </a:solidFill>
                <a:latin typeface="Nimbus Sans"/>
                <a:ea typeface="Nimbus Sans"/>
                <a:cs typeface="Nimbus Sans"/>
              </a:rPr>
              <a:t>Each path starts with an existing asset and ends with a testable operating result.</a:t>
            </a:r>
          </a:p>
        </p:txBody>
      </p:sp>
      <p:sp>
        <p:nvSpPr>
          <p:cNvPr id="3" name="">
            <a:extLst xmlns:a="http://schemas.openxmlformats.org/drawingml/2006/main">
              <a:ext uri="{FF2B5EF4-FFF2-40B4-BE49-F238E27FC236}">
                <a16:creationId xmlns:a16="http://schemas.microsoft.com/office/drawing/2014/main" id="{C399816C-BD94-4EC6-A146-7705D763501F}"/>
              </a:ext>
            </a:extLst>
          </p:cNvPr>
          <p:cNvSpPr>
            <a:spLocks xmlns:a="http://schemas.openxmlformats.org/drawingml/2006/main" noGrp="1"/>
          </p:cNvSpPr>
          <p:nvPr/>
        </p:nvSpPr>
        <p:spPr>
          <a:xfrm xmlns:a="http://schemas.openxmlformats.org/drawingml/2006/main">
            <a:off x="11191875" y="6334125"/>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626A6B"/>
                </a:solidFill>
                <a:latin typeface="Nimbus Sans"/>
                <a:ea typeface="Nimbus Sans"/>
                <a:cs typeface="Nimbus Sans"/>
              </a:defRPr>
            </a:pPr>
            <a:r>
              <a:rPr sz="1275" b="0">
                <a:solidFill>
                  <a:srgbClr val="626A6B"/>
                </a:solidFill>
                <a:latin typeface="Nimbus Sans"/>
                <a:ea typeface="Nimbus Sans"/>
                <a:cs typeface="Nimbus Sans"/>
              </a:rPr>
              <a:t>03</a:t>
            </a:r>
          </a:p>
        </p:txBody>
      </p:sp>
      <p:sp>
        <p:nvSpPr>
          <p:cNvPr id="4" name="">
            <a:extLst xmlns:a="http://schemas.openxmlformats.org/drawingml/2006/main">
              <a:ext uri="{FF2B5EF4-FFF2-40B4-BE49-F238E27FC236}">
                <a16:creationId xmlns:a16="http://schemas.microsoft.com/office/drawing/2014/main" id="{447C98AD-924C-432D-B920-42710E9B8703}"/>
              </a:ext>
            </a:extLst>
          </p:cNvPr>
          <p:cNvSpPr>
            <a:spLocks xmlns:a="http://schemas.openxmlformats.org/drawingml/2006/main" noGrp="1"/>
          </p:cNvSpPr>
          <p:nvPr/>
        </p:nvSpPr>
        <p:spPr>
          <a:xfrm xmlns:a="http://schemas.openxmlformats.org/drawingml/2006/main">
            <a:off x="704850" y="2514600"/>
            <a:ext cx="352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a:solidFill>
                  <a:srgbClr val="527D70"/>
                </a:solidFill>
                <a:latin typeface="Nimbus Sans"/>
                <a:ea typeface="Nimbus Sans"/>
                <a:cs typeface="Nimbus Sans"/>
              </a:defRPr>
            </a:pPr>
            <a:r>
              <a:rPr sz="2250" b="1">
                <a:solidFill>
                  <a:srgbClr val="527D70"/>
                </a:solidFill>
                <a:latin typeface="Nimbus Sans"/>
                <a:ea typeface="Nimbus Sans"/>
                <a:cs typeface="Nimbus Sans"/>
              </a:rPr>
              <a:t>Better decisions</a:t>
            </a:r>
          </a:p>
        </p:txBody>
      </p:sp>
      <p:sp>
        <p:nvSpPr>
          <p:cNvPr id="5" name="">
            <a:extLst xmlns:a="http://schemas.openxmlformats.org/drawingml/2006/main">
              <a:ext uri="{FF2B5EF4-FFF2-40B4-BE49-F238E27FC236}">
                <a16:creationId xmlns:a16="http://schemas.microsoft.com/office/drawing/2014/main" id="{3370D616-D75F-42EF-B280-1C749F7ABBFE}"/>
              </a:ext>
            </a:extLst>
          </p:cNvPr>
          <p:cNvSpPr>
            <a:spLocks xmlns:a="http://schemas.openxmlformats.org/drawingml/2006/main" noGrp="1"/>
          </p:cNvSpPr>
          <p:nvPr/>
        </p:nvSpPr>
        <p:spPr>
          <a:xfrm xmlns:a="http://schemas.openxmlformats.org/drawingml/2006/main">
            <a:off x="4514850" y="2514600"/>
            <a:ext cx="67246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4191B"/>
                </a:solidFill>
                <a:latin typeface="Nimbus Sans"/>
                <a:ea typeface="Nimbus Sans"/>
                <a:cs typeface="Nimbus Sans"/>
              </a:defRPr>
            </a:pPr>
            <a:r>
              <a:rPr sz="2025" b="0">
                <a:solidFill>
                  <a:srgbClr val="14191B"/>
                </a:solidFill>
                <a:latin typeface="Nimbus Sans"/>
                <a:ea typeface="Nimbus Sans"/>
                <a:cs typeface="Nimbus Sans"/>
              </a:rPr>
              <a:t>More profitable transactions and underwriting at the same risk</a:t>
            </a:r>
          </a:p>
        </p:txBody>
      </p:sp>
      <p:sp>
        <p:nvSpPr>
          <p:cNvPr id="6" name="">
            <a:extLst xmlns:a="http://schemas.openxmlformats.org/drawingml/2006/main">
              <a:ext uri="{FF2B5EF4-FFF2-40B4-BE49-F238E27FC236}">
                <a16:creationId xmlns:a16="http://schemas.microsoft.com/office/drawing/2014/main" id="{A595B0E7-CDD8-4433-9558-5DE5172D1EB9}"/>
              </a:ext>
            </a:extLst>
          </p:cNvPr>
          <p:cNvSpPr>
            <a:spLocks xmlns:a="http://schemas.openxmlformats.org/drawingml/2006/main" noGrp="1"/>
          </p:cNvSpPr>
          <p:nvPr/>
        </p:nvSpPr>
        <p:spPr>
          <a:xfrm xmlns:a="http://schemas.openxmlformats.org/drawingml/2006/main">
            <a:off x="704850" y="3409950"/>
            <a:ext cx="352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a:solidFill>
                  <a:srgbClr val="527D70"/>
                </a:solidFill>
                <a:latin typeface="Nimbus Sans"/>
                <a:ea typeface="Nimbus Sans"/>
                <a:cs typeface="Nimbus Sans"/>
              </a:defRPr>
            </a:pPr>
            <a:r>
              <a:rPr sz="2250" b="1">
                <a:solidFill>
                  <a:srgbClr val="527D70"/>
                </a:solidFill>
                <a:latin typeface="Nimbus Sans"/>
                <a:ea typeface="Nimbus Sans"/>
                <a:cs typeface="Nimbus Sans"/>
              </a:rPr>
              <a:t>Scientific throughput</a:t>
            </a:r>
          </a:p>
        </p:txBody>
      </p:sp>
      <p:sp>
        <p:nvSpPr>
          <p:cNvPr id="7" name="">
            <a:extLst xmlns:a="http://schemas.openxmlformats.org/drawingml/2006/main">
              <a:ext uri="{FF2B5EF4-FFF2-40B4-BE49-F238E27FC236}">
                <a16:creationId xmlns:a16="http://schemas.microsoft.com/office/drawing/2014/main" id="{6B5C3970-666D-4BFC-8732-431F25766A5E}"/>
              </a:ext>
            </a:extLst>
          </p:cNvPr>
          <p:cNvSpPr>
            <a:spLocks xmlns:a="http://schemas.openxmlformats.org/drawingml/2006/main" noGrp="1"/>
          </p:cNvSpPr>
          <p:nvPr/>
        </p:nvSpPr>
        <p:spPr>
          <a:xfrm xmlns:a="http://schemas.openxmlformats.org/drawingml/2006/main">
            <a:off x="4514850" y="3409950"/>
            <a:ext cx="67246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4191B"/>
                </a:solidFill>
                <a:latin typeface="Nimbus Sans"/>
                <a:ea typeface="Nimbus Sans"/>
                <a:cs typeface="Nimbus Sans"/>
              </a:defRPr>
            </a:pPr>
            <a:r>
              <a:rPr sz="2025" b="0">
                <a:solidFill>
                  <a:srgbClr val="14191B"/>
                </a:solidFill>
                <a:latin typeface="Nimbus Sans"/>
                <a:ea typeface="Nimbus Sans"/>
                <a:cs typeface="Nimbus Sans"/>
              </a:rPr>
              <a:t>More clinically useful output per research euro</a:t>
            </a:r>
          </a:p>
        </p:txBody>
      </p:sp>
      <p:sp>
        <p:nvSpPr>
          <p:cNvPr id="8" name="">
            <a:extLst xmlns:a="http://schemas.openxmlformats.org/drawingml/2006/main">
              <a:ext uri="{FF2B5EF4-FFF2-40B4-BE49-F238E27FC236}">
                <a16:creationId xmlns:a16="http://schemas.microsoft.com/office/drawing/2014/main" id="{0982D516-5940-4D4E-8258-CC14C67EE93A}"/>
              </a:ext>
            </a:extLst>
          </p:cNvPr>
          <p:cNvSpPr>
            <a:spLocks xmlns:a="http://schemas.openxmlformats.org/drawingml/2006/main" noGrp="1"/>
          </p:cNvSpPr>
          <p:nvPr/>
        </p:nvSpPr>
        <p:spPr>
          <a:xfrm xmlns:a="http://schemas.openxmlformats.org/drawingml/2006/main">
            <a:off x="704850" y="4305300"/>
            <a:ext cx="352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a:solidFill>
                  <a:srgbClr val="527D70"/>
                </a:solidFill>
                <a:latin typeface="Nimbus Sans"/>
                <a:ea typeface="Nimbus Sans"/>
                <a:cs typeface="Nimbus Sans"/>
              </a:defRPr>
            </a:pPr>
            <a:r>
              <a:rPr sz="2250" b="1">
                <a:solidFill>
                  <a:srgbClr val="527D70"/>
                </a:solidFill>
                <a:latin typeface="Nimbus Sans"/>
                <a:ea typeface="Nimbus Sans"/>
                <a:cs typeface="Nimbus Sans"/>
              </a:rPr>
              <a:t>Work inside the workflow</a:t>
            </a:r>
          </a:p>
        </p:txBody>
      </p:sp>
      <p:sp>
        <p:nvSpPr>
          <p:cNvPr id="9" name="">
            <a:extLst xmlns:a="http://schemas.openxmlformats.org/drawingml/2006/main">
              <a:ext uri="{FF2B5EF4-FFF2-40B4-BE49-F238E27FC236}">
                <a16:creationId xmlns:a16="http://schemas.microsoft.com/office/drawing/2014/main" id="{40A83E84-22E3-4CBC-99D5-BCE52AF18071}"/>
              </a:ext>
            </a:extLst>
          </p:cNvPr>
          <p:cNvSpPr>
            <a:spLocks xmlns:a="http://schemas.openxmlformats.org/drawingml/2006/main" noGrp="1"/>
          </p:cNvSpPr>
          <p:nvPr/>
        </p:nvSpPr>
        <p:spPr>
          <a:xfrm xmlns:a="http://schemas.openxmlformats.org/drawingml/2006/main">
            <a:off x="4514850" y="4305300"/>
            <a:ext cx="67246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4191B"/>
                </a:solidFill>
                <a:latin typeface="Nimbus Sans"/>
                <a:ea typeface="Nimbus Sans"/>
                <a:cs typeface="Nimbus Sans"/>
              </a:defRPr>
            </a:pPr>
            <a:r>
              <a:rPr sz="2025" b="0">
                <a:solidFill>
                  <a:srgbClr val="14191B"/>
                </a:solidFill>
                <a:latin typeface="Nimbus Sans"/>
                <a:ea typeface="Nimbus Sans"/>
                <a:cs typeface="Nimbus Sans"/>
              </a:rPr>
              <a:t>More completed tasks from trusted content and systems of record</a:t>
            </a:r>
          </a:p>
        </p:txBody>
      </p:sp>
      <p:sp>
        <p:nvSpPr>
          <p:cNvPr id="10" name="">
            <a:extLst xmlns:a="http://schemas.openxmlformats.org/drawingml/2006/main">
              <a:ext uri="{FF2B5EF4-FFF2-40B4-BE49-F238E27FC236}">
                <a16:creationId xmlns:a16="http://schemas.microsoft.com/office/drawing/2014/main" id="{D24248A7-0504-459D-B62C-CCAEF4E92AF6}"/>
              </a:ext>
            </a:extLst>
          </p:cNvPr>
          <p:cNvSpPr>
            <a:spLocks xmlns:a="http://schemas.openxmlformats.org/drawingml/2006/main" noGrp="1"/>
          </p:cNvSpPr>
          <p:nvPr/>
        </p:nvSpPr>
        <p:spPr>
          <a:xfrm xmlns:a="http://schemas.openxmlformats.org/drawingml/2006/main">
            <a:off x="704850" y="5200650"/>
            <a:ext cx="352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a:solidFill>
                  <a:srgbClr val="527D70"/>
                </a:solidFill>
                <a:latin typeface="Nimbus Sans"/>
                <a:ea typeface="Nimbus Sans"/>
                <a:cs typeface="Nimbus Sans"/>
              </a:defRPr>
            </a:pPr>
            <a:r>
              <a:rPr sz="2250" b="1">
                <a:solidFill>
                  <a:srgbClr val="527D70"/>
                </a:solidFill>
                <a:latin typeface="Nimbus Sans"/>
                <a:ea typeface="Nimbus Sans"/>
                <a:cs typeface="Nimbus Sans"/>
              </a:rPr>
              <a:t>Physical productivity</a:t>
            </a:r>
          </a:p>
        </p:txBody>
      </p:sp>
      <p:sp>
        <p:nvSpPr>
          <p:cNvPr id="11" name="">
            <a:extLst xmlns:a="http://schemas.openxmlformats.org/drawingml/2006/main">
              <a:ext uri="{FF2B5EF4-FFF2-40B4-BE49-F238E27FC236}">
                <a16:creationId xmlns:a16="http://schemas.microsoft.com/office/drawing/2014/main" id="{CB66183E-5DF6-4BC8-B7C1-FE6C6F63098D}"/>
              </a:ext>
            </a:extLst>
          </p:cNvPr>
          <p:cNvSpPr>
            <a:spLocks xmlns:a="http://schemas.openxmlformats.org/drawingml/2006/main" noGrp="1"/>
          </p:cNvSpPr>
          <p:nvPr/>
        </p:nvSpPr>
        <p:spPr>
          <a:xfrm xmlns:a="http://schemas.openxmlformats.org/drawingml/2006/main">
            <a:off x="4514850" y="5200650"/>
            <a:ext cx="67246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4191B"/>
                </a:solidFill>
                <a:latin typeface="Nimbus Sans"/>
                <a:ea typeface="Nimbus Sans"/>
                <a:cs typeface="Nimbus Sans"/>
              </a:defRPr>
            </a:pPr>
            <a:r>
              <a:rPr sz="2025" b="0">
                <a:solidFill>
                  <a:srgbClr val="14191B"/>
                </a:solidFill>
                <a:latin typeface="Nimbus Sans"/>
                <a:ea typeface="Nimbus Sans"/>
                <a:cs typeface="Nimbus Sans"/>
              </a:rPr>
              <a:t>Higher useful output from existing equipment and networks</a:t>
            </a:r>
          </a:p>
        </p:txBody>
      </p:sp>
    </p:spTree>
    <p:extLst>
      <p:ext uri="{BB962C8B-B14F-4D97-AF65-F5344CB8AC3E}">
        <p14:creationId xmlns:p14="http://schemas.microsoft.com/office/powerpoint/2010/main" val="645756556"/>
      </p:ext>
    </p:extLst>
  </p:cSld>
</p:sld>
</file>

<file path=ppt/slides/slide4.xml><?xml version="1.0" encoding="utf-8"?>
<p:sld xmlns:p="http://schemas.openxmlformats.org/presentationml/2006/main">
  <p:cSld>
    <p:bg>
      <p:bgPr>
        <a:solidFill xmlns:a="http://schemas.openxmlformats.org/drawingml/2006/main">
          <a:srgbClr val="F3F0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F89FD76-D25D-4DF1-9E17-0A1E5CE99000}"/>
              </a:ext>
            </a:extLst>
          </p:cNvPr>
          <p:cNvSpPr>
            <a:spLocks xmlns:a="http://schemas.openxmlformats.org/drawingml/2006/main" noGrp="1"/>
          </p:cNvSpPr>
          <p:nvPr/>
        </p:nvSpPr>
        <p:spPr>
          <a:xfrm xmlns:a="http://schemas.openxmlformats.org/drawingml/2006/main">
            <a:off x="666750" y="552450"/>
            <a:ext cx="107632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525" b="1">
                <a:solidFill>
                  <a:srgbClr val="14191B"/>
                </a:solidFill>
                <a:latin typeface="Nimbus Sans"/>
                <a:ea typeface="Nimbus Sans"/>
                <a:cs typeface="Nimbus Sans"/>
              </a:defRPr>
            </a:pPr>
            <a:r>
              <a:rPr sz="3525" b="1">
                <a:solidFill>
                  <a:srgbClr val="14191B"/>
                </a:solidFill>
                <a:latin typeface="Nimbus Sans"/>
                <a:ea typeface="Nimbus Sans"/>
                <a:cs typeface="Nimbus Sans"/>
              </a:rPr>
              <a:t>Productivity depends on the task</a:t>
            </a:r>
          </a:p>
        </p:txBody>
      </p:sp>
      <p:sp>
        <p:nvSpPr>
          <p:cNvPr id="2" name="">
            <a:extLst xmlns:a="http://schemas.openxmlformats.org/drawingml/2006/main">
              <a:ext uri="{FF2B5EF4-FFF2-40B4-BE49-F238E27FC236}">
                <a16:creationId xmlns:a16="http://schemas.microsoft.com/office/drawing/2014/main" id="{D3807C47-7A32-4E4A-9F91-09A5DE3BFA3F}"/>
              </a:ext>
            </a:extLst>
          </p:cNvPr>
          <p:cNvSpPr>
            <a:spLocks xmlns:a="http://schemas.openxmlformats.org/drawingml/2006/main" noGrp="1"/>
          </p:cNvSpPr>
          <p:nvPr/>
        </p:nvSpPr>
        <p:spPr>
          <a:xfrm xmlns:a="http://schemas.openxmlformats.org/drawingml/2006/main">
            <a:off x="685800" y="1619250"/>
            <a:ext cx="10572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626A6B"/>
                </a:solidFill>
                <a:latin typeface="Nimbus Sans"/>
                <a:ea typeface="Nimbus Sans"/>
                <a:cs typeface="Nimbus Sans"/>
              </a:defRPr>
            </a:pPr>
            <a:r>
              <a:rPr sz="1875" b="0">
                <a:solidFill>
                  <a:srgbClr val="626A6B"/>
                </a:solidFill>
                <a:latin typeface="Nimbus Sans"/>
                <a:ea typeface="Nimbus Sans"/>
                <a:cs typeface="Nimbus Sans"/>
              </a:rPr>
              <a:t>Evidence supports careful measurement. It does not support a universal uplift.</a:t>
            </a:r>
          </a:p>
        </p:txBody>
      </p:sp>
      <p:sp>
        <p:nvSpPr>
          <p:cNvPr id="3" name="">
            <a:extLst xmlns:a="http://schemas.openxmlformats.org/drawingml/2006/main">
              <a:ext uri="{FF2B5EF4-FFF2-40B4-BE49-F238E27FC236}">
                <a16:creationId xmlns:a16="http://schemas.microsoft.com/office/drawing/2014/main" id="{9D17AAA2-4AF2-49D4-8483-811A119A8480}"/>
              </a:ext>
            </a:extLst>
          </p:cNvPr>
          <p:cNvSpPr>
            <a:spLocks xmlns:a="http://schemas.openxmlformats.org/drawingml/2006/main" noGrp="1"/>
          </p:cNvSpPr>
          <p:nvPr/>
        </p:nvSpPr>
        <p:spPr>
          <a:xfrm xmlns:a="http://schemas.openxmlformats.org/drawingml/2006/main">
            <a:off x="11191875" y="6334125"/>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626A6B"/>
                </a:solidFill>
                <a:latin typeface="Nimbus Sans"/>
                <a:ea typeface="Nimbus Sans"/>
                <a:cs typeface="Nimbus Sans"/>
              </a:defRPr>
            </a:pPr>
            <a:r>
              <a:rPr sz="1275" b="0">
                <a:solidFill>
                  <a:srgbClr val="626A6B"/>
                </a:solidFill>
                <a:latin typeface="Nimbus Sans"/>
                <a:ea typeface="Nimbus Sans"/>
                <a:cs typeface="Nimbus Sans"/>
              </a:rPr>
              <a:t>04</a:t>
            </a:r>
          </a:p>
        </p:txBody>
      </p:sp>
      <p:graphicFrame>
        <p:nvGraphicFramePr>
          <p:cNvPr id="9" name=""/>
          <p:cNvGraphicFramePr/>
          <p:nvPr/>
        </p:nvGraphicFramePr>
        <p:xfrm>
          <a:off xmlns:a="http://schemas.openxmlformats.org/drawingml/2006/main" x="685800" y="2476500"/>
          <a:ext xmlns:a="http://schemas.openxmlformats.org/drawingml/2006/main" cx="10820400" cy="3190875"/>
        </p:xfrm>
        <a:graphic xmlns:a="http://schemas.openxmlformats.org/drawingml/2006/main">
          <a:graphicData uri="http://schemas.openxmlformats.org/drawingml/2006/table">
            <a:tbl>
              <a:tblPr firstRow="0" bandRow="0"/>
              <a:tblGrid>
                <a:gridCol w="3429000"/>
                <a:gridCol w="3190875"/>
                <a:gridCol w="4200525"/>
              </a:tblGrid>
              <a:tr h="476250">
                <a:tc>
                  <a:txBody>
                    <a:bodyPr/>
                    <a:lstStyle/>
                    <a:p>
                      <a:r>
                        <a:rPr sz="1500" b="1">
                          <a:solidFill>
                            <a:srgbClr val="FCFBF7"/>
                          </a:solidFill>
                          <a:latin typeface="Nimbus Sans"/>
                          <a:ea typeface="Nimbus Sans"/>
                          <a:cs typeface="Nimbus Sans"/>
                        </a:rPr>
                        <a:t>Setting</a:t>
                      </a:r>
                    </a:p>
                  </a:txBody>
                  <a:tcPr marL="91440" marR="91440" marT="45720" marB="45720">
                    <a:solidFill>
                      <a:srgbClr val="14191B"/>
                    </a:solidFill>
                  </a:tcPr>
                </a:tc>
                <a:tc>
                  <a:txBody>
                    <a:bodyPr/>
                    <a:lstStyle/>
                    <a:p>
                      <a:r>
                        <a:rPr sz="1500" b="1">
                          <a:solidFill>
                            <a:srgbClr val="FCFBF7"/>
                          </a:solidFill>
                          <a:latin typeface="Nimbus Sans"/>
                          <a:ea typeface="Nimbus Sans"/>
                          <a:cs typeface="Nimbus Sans"/>
                        </a:rPr>
                        <a:t>Observed result</a:t>
                      </a:r>
                    </a:p>
                  </a:txBody>
                  <a:tcPr marL="91440" marR="91440" marT="45720" marB="45720">
                    <a:solidFill>
                      <a:srgbClr val="14191B"/>
                    </a:solidFill>
                  </a:tcPr>
                </a:tc>
                <a:tc>
                  <a:txBody>
                    <a:bodyPr/>
                    <a:lstStyle/>
                    <a:p>
                      <a:r>
                        <a:rPr sz="1500" b="1">
                          <a:solidFill>
                            <a:srgbClr val="FCFBF7"/>
                          </a:solidFill>
                          <a:latin typeface="Nimbus Sans"/>
                          <a:ea typeface="Nimbus Sans"/>
                          <a:cs typeface="Nimbus Sans"/>
                        </a:rPr>
                        <a:t>Investment implication</a:t>
                      </a:r>
                    </a:p>
                  </a:txBody>
                  <a:tcPr marL="91440" marR="91440" marT="45720" marB="45720">
                    <a:solidFill>
                      <a:srgbClr val="14191B"/>
                    </a:solidFill>
                  </a:tcPr>
                </a:tc>
              </a:tr>
              <a:tr h="904875">
                <a:tc>
                  <a:txBody>
                    <a:bodyPr/>
                    <a:lstStyle/>
                    <a:p>
                      <a:r>
                        <a:rPr sz="1950" b="0">
                          <a:solidFill>
                            <a:srgbClr val="14191B"/>
                          </a:solidFill>
                          <a:latin typeface="Nimbus Sans"/>
                          <a:ea typeface="Nimbus Sans"/>
                          <a:cs typeface="Nimbus Sans"/>
                        </a:rPr>
                        <a:t>Customer support</a:t>
                      </a:r>
                    </a:p>
                    <a:p>
                      <a:r>
                        <a:rPr sz="1950" b="0">
                          <a:solidFill>
                            <a:srgbClr val="14191B"/>
                          </a:solidFill>
                          <a:latin typeface="Nimbus Sans"/>
                          <a:ea typeface="Nimbus Sans"/>
                          <a:cs typeface="Nimbus Sans"/>
                        </a:rPr>
                        <a:t>5,172 agents</a:t>
                      </a:r>
                    </a:p>
                  </a:txBody>
                  <a:tcPr marL="91440" marR="91440" marT="45720" marB="45720">
                    <a:solidFill>
                      <a:srgbClr val="F3F0E8"/>
                    </a:solidFill>
                  </a:tcPr>
                </a:tc>
                <a:tc>
                  <a:txBody>
                    <a:bodyPr/>
                    <a:lstStyle/>
                    <a:p>
                      <a:r>
                        <a:rPr sz="1950" b="0">
                          <a:solidFill>
                            <a:srgbClr val="14191B"/>
                          </a:solidFill>
                          <a:latin typeface="Nimbus Sans"/>
                          <a:ea typeface="Nimbus Sans"/>
                          <a:cs typeface="Nimbus Sans"/>
                        </a:rPr>
                        <a:t>15% more issues</a:t>
                      </a:r>
                    </a:p>
                    <a:p>
                      <a:r>
                        <a:rPr sz="1950" b="0">
                          <a:solidFill>
                            <a:srgbClr val="14191B"/>
                          </a:solidFill>
                          <a:latin typeface="Nimbus Sans"/>
                          <a:ea typeface="Nimbus Sans"/>
                          <a:cs typeface="Nimbus Sans"/>
                        </a:rPr>
                        <a:t>resolved per hour</a:t>
                      </a:r>
                    </a:p>
                  </a:txBody>
                  <a:tcPr marL="91440" marR="91440" marT="45720" marB="45720">
                    <a:solidFill>
                      <a:srgbClr val="F3F0E8"/>
                    </a:solidFill>
                  </a:tcPr>
                </a:tc>
                <a:tc>
                  <a:txBody>
                    <a:bodyPr/>
                    <a:lstStyle/>
                    <a:p>
                      <a:r>
                        <a:rPr sz="1950" b="0">
                          <a:solidFill>
                            <a:srgbClr val="14191B"/>
                          </a:solidFill>
                          <a:latin typeface="Nimbus Sans"/>
                          <a:ea typeface="Nimbus Sans"/>
                          <a:cs typeface="Nimbus Sans"/>
                        </a:rPr>
                        <a:t>Some workflows can</a:t>
                      </a:r>
                    </a:p>
                    <a:p>
                      <a:r>
                        <a:rPr sz="1950" b="0">
                          <a:solidFill>
                            <a:srgbClr val="14191B"/>
                          </a:solidFill>
                          <a:latin typeface="Nimbus Sans"/>
                          <a:ea typeface="Nimbus Sans"/>
                          <a:cs typeface="Nimbus Sans"/>
                        </a:rPr>
                        <a:t>produce more useful output</a:t>
                      </a:r>
                    </a:p>
                  </a:txBody>
                  <a:tcPr marL="91440" marR="91440" marT="45720" marB="45720">
                    <a:solidFill>
                      <a:srgbClr val="F3F0E8"/>
                    </a:solidFill>
                  </a:tcPr>
                </a:tc>
              </a:tr>
              <a:tr h="904875">
                <a:tc>
                  <a:txBody>
                    <a:bodyPr/>
                    <a:lstStyle/>
                    <a:p>
                      <a:r>
                        <a:rPr sz="1950" b="0">
                          <a:solidFill>
                            <a:srgbClr val="14191B"/>
                          </a:solidFill>
                          <a:latin typeface="Nimbus Sans"/>
                          <a:ea typeface="Nimbus Sans"/>
                          <a:cs typeface="Nimbus Sans"/>
                        </a:rPr>
                        <a:t>Experienced developers</a:t>
                      </a:r>
                    </a:p>
                    <a:p>
                      <a:r>
                        <a:rPr sz="1950" b="0">
                          <a:solidFill>
                            <a:srgbClr val="14191B"/>
                          </a:solidFill>
                          <a:latin typeface="Nimbus Sans"/>
                          <a:ea typeface="Nimbus Sans"/>
                          <a:cs typeface="Nimbus Sans"/>
                        </a:rPr>
                        <a:t>Early-2025 tools</a:t>
                      </a:r>
                    </a:p>
                  </a:txBody>
                  <a:tcPr marL="91440" marR="91440" marT="45720" marB="45720">
                    <a:solidFill>
                      <a:srgbClr val="F3F0E8"/>
                    </a:solidFill>
                  </a:tcPr>
                </a:tc>
                <a:tc>
                  <a:txBody>
                    <a:bodyPr/>
                    <a:lstStyle/>
                    <a:p>
                      <a:r>
                        <a:rPr sz="1950" b="0">
                          <a:solidFill>
                            <a:srgbClr val="14191B"/>
                          </a:solidFill>
                          <a:latin typeface="Nimbus Sans"/>
                          <a:ea typeface="Nimbus Sans"/>
                          <a:cs typeface="Nimbus Sans"/>
                        </a:rPr>
                        <a:t>19% longer</a:t>
                      </a:r>
                    </a:p>
                    <a:p>
                      <a:r>
                        <a:rPr sz="1950" b="0">
                          <a:solidFill>
                            <a:srgbClr val="14191B"/>
                          </a:solidFill>
                          <a:latin typeface="Nimbus Sans"/>
                          <a:ea typeface="Nimbus Sans"/>
                          <a:cs typeface="Nimbus Sans"/>
                        </a:rPr>
                        <a:t>task completion time</a:t>
                      </a:r>
                    </a:p>
                  </a:txBody>
                  <a:tcPr marL="91440" marR="91440" marT="45720" marB="45720">
                    <a:solidFill>
                      <a:srgbClr val="F3F0E8"/>
                    </a:solidFill>
                  </a:tcPr>
                </a:tc>
                <a:tc>
                  <a:txBody>
                    <a:bodyPr/>
                    <a:lstStyle/>
                    <a:p>
                      <a:r>
                        <a:rPr sz="1950" b="0">
                          <a:solidFill>
                            <a:srgbClr val="14191B"/>
                          </a:solidFill>
                          <a:latin typeface="Nimbus Sans"/>
                          <a:ea typeface="Nimbus Sans"/>
                          <a:cs typeface="Nimbus Sans"/>
                        </a:rPr>
                        <a:t>Review and context costs</a:t>
                      </a:r>
                    </a:p>
                    <a:p>
                      <a:r>
                        <a:rPr sz="1950" b="0">
                          <a:solidFill>
                            <a:srgbClr val="14191B"/>
                          </a:solidFill>
                          <a:latin typeface="Nimbus Sans"/>
                          <a:ea typeface="Nimbus Sans"/>
                          <a:cs typeface="Nimbus Sans"/>
                        </a:rPr>
                        <a:t>can offset assistance</a:t>
                      </a:r>
                    </a:p>
                  </a:txBody>
                  <a:tcPr marL="91440" marR="91440" marT="45720" marB="45720">
                    <a:solidFill>
                      <a:srgbClr val="F3F0E8"/>
                    </a:solidFill>
                  </a:tcPr>
                </a:tc>
              </a:tr>
              <a:tr h="904875">
                <a:tc>
                  <a:txBody>
                    <a:bodyPr/>
                    <a:lstStyle/>
                    <a:p>
                      <a:r>
                        <a:rPr sz="1950" b="0">
                          <a:solidFill>
                            <a:srgbClr val="14191B"/>
                          </a:solidFill>
                          <a:latin typeface="Nimbus Sans"/>
                          <a:ea typeface="Nimbus Sans"/>
                          <a:cs typeface="Nimbus Sans"/>
                        </a:rPr>
                        <a:t>METR 2026 follow-up</a:t>
                      </a:r>
                    </a:p>
                  </a:txBody>
                  <a:tcPr marL="91440" marR="91440" marT="45720" marB="45720">
                    <a:solidFill>
                      <a:srgbClr val="F3F0E8"/>
                    </a:solidFill>
                  </a:tcPr>
                </a:tc>
                <a:tc>
                  <a:txBody>
                    <a:bodyPr/>
                    <a:lstStyle/>
                    <a:p>
                      <a:r>
                        <a:rPr sz="1950" b="0">
                          <a:solidFill>
                            <a:srgbClr val="14191B"/>
                          </a:solidFill>
                          <a:latin typeface="Nimbus Sans"/>
                          <a:ea typeface="Nimbus Sans"/>
                          <a:cs typeface="Nimbus Sans"/>
                        </a:rPr>
                        <a:t>Selection bias obscures</a:t>
                      </a:r>
                    </a:p>
                    <a:p>
                      <a:r>
                        <a:rPr sz="1950" b="0">
                          <a:solidFill>
                            <a:srgbClr val="14191B"/>
                          </a:solidFill>
                          <a:latin typeface="Nimbus Sans"/>
                          <a:ea typeface="Nimbus Sans"/>
                          <a:cs typeface="Nimbus Sans"/>
                        </a:rPr>
                        <a:t>the current effect</a:t>
                      </a:r>
                    </a:p>
                  </a:txBody>
                  <a:tcPr marL="91440" marR="91440" marT="45720" marB="45720">
                    <a:solidFill>
                      <a:srgbClr val="F3F0E8"/>
                    </a:solidFill>
                  </a:tcPr>
                </a:tc>
                <a:tc>
                  <a:txBody>
                    <a:bodyPr/>
                    <a:lstStyle/>
                    <a:p>
                      <a:r>
                        <a:rPr sz="1950" b="0">
                          <a:solidFill>
                            <a:srgbClr val="14191B"/>
                          </a:solidFill>
                          <a:latin typeface="Nimbus Sans"/>
                          <a:ea typeface="Nimbus Sans"/>
                          <a:cs typeface="Nimbus Sans"/>
                        </a:rPr>
                        <a:t>Historical results need</a:t>
                      </a:r>
                    </a:p>
                    <a:p>
                      <a:r>
                        <a:rPr sz="1950" b="0">
                          <a:solidFill>
                            <a:srgbClr val="14191B"/>
                          </a:solidFill>
                          <a:latin typeface="Nimbus Sans"/>
                          <a:ea typeface="Nimbus Sans"/>
                          <a:cs typeface="Nimbus Sans"/>
                        </a:rPr>
                        <a:t>retesting with current tools</a:t>
                      </a:r>
                    </a:p>
                  </a:txBody>
                  <a:tcPr marL="91440" marR="91440" marT="45720" marB="45720">
                    <a:solidFill>
                      <a:srgbClr val="F3F0E8"/>
                    </a:solidFill>
                  </a:tcPr>
                </a:tc>
              </a:tr>
            </a:tbl>
          </a:graphicData>
        </a:graphic>
      </p:graphicFrame>
      <p:sp>
        <p:nvSpPr>
          <p:cNvPr id="5" name="">
            <a:extLst xmlns:a="http://schemas.openxmlformats.org/drawingml/2006/main">
              <a:ext uri="{FF2B5EF4-FFF2-40B4-BE49-F238E27FC236}">
                <a16:creationId xmlns:a16="http://schemas.microsoft.com/office/drawing/2014/main" id="{0E7238B9-4506-40F1-9B54-8734A8B297B4}"/>
              </a:ext>
            </a:extLst>
          </p:cNvPr>
          <p:cNvSpPr>
            <a:spLocks xmlns:a="http://schemas.openxmlformats.org/drawingml/2006/main" noGrp="1"/>
          </p:cNvSpPr>
          <p:nvPr/>
        </p:nvSpPr>
        <p:spPr>
          <a:xfrm xmlns:a="http://schemas.openxmlformats.org/drawingml/2006/main">
            <a:off x="704850" y="596265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626A6B"/>
                </a:solidFill>
                <a:latin typeface="Nimbus Sans"/>
                <a:ea typeface="Nimbus Sans"/>
                <a:cs typeface="Nimbus Sans"/>
              </a:defRPr>
            </a:pPr>
            <a:r>
              <a:rPr sz="1500" b="0">
                <a:solidFill>
                  <a:srgbClr val="626A6B"/>
                </a:solidFill>
                <a:latin typeface="Nimbus Sans"/>
                <a:ea typeface="Nimbus Sans"/>
                <a:cs typeface="Nimbus Sans"/>
              </a:rPr>
              <a:t>Different tasks and metrics. Neither result establishes a company-wide profit gain.</a:t>
            </a:r>
          </a:p>
        </p:txBody>
      </p:sp>
    </p:spTree>
    <p:extLst>
      <p:ext uri="{BB962C8B-B14F-4D97-AF65-F5344CB8AC3E}">
        <p14:creationId xmlns:p14="http://schemas.microsoft.com/office/powerpoint/2010/main" val="400659862"/>
      </p:ext>
    </p:extLst>
  </p:cSld>
</p:sld>
</file>

<file path=ppt/slides/slide5.xml><?xml version="1.0" encoding="utf-8"?>
<p:sld xmlns:p="http://schemas.openxmlformats.org/presentationml/2006/main">
  <p:cSld>
    <p:bg>
      <p:bgPr>
        <a:solidFill xmlns:a="http://schemas.openxmlformats.org/drawingml/2006/main">
          <a:srgbClr val="F3F0E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025CC15-3047-44C1-979D-318CD2FD2A7E}"/>
              </a:ext>
            </a:extLst>
          </p:cNvPr>
          <p:cNvSpPr>
            <a:spLocks xmlns:a="http://schemas.openxmlformats.org/drawingml/2006/main" noGrp="1"/>
          </p:cNvSpPr>
          <p:nvPr/>
        </p:nvSpPr>
        <p:spPr>
          <a:xfrm xmlns:a="http://schemas.openxmlformats.org/drawingml/2006/main">
            <a:off x="666750" y="552450"/>
            <a:ext cx="107632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525" b="1">
                <a:solidFill>
                  <a:srgbClr val="14191B"/>
                </a:solidFill>
                <a:latin typeface="Nimbus Sans"/>
                <a:ea typeface="Nimbus Sans"/>
                <a:cs typeface="Nimbus Sans"/>
              </a:defRPr>
            </a:pPr>
            <a:r>
              <a:rPr sz="3525" b="1">
                <a:solidFill>
                  <a:srgbClr val="14191B"/>
                </a:solidFill>
                <a:latin typeface="Nimbus Sans"/>
                <a:ea typeface="Nimbus Sans"/>
                <a:cs typeface="Nimbus Sans"/>
              </a:rPr>
              <a:t>Pharma: better choices before</a:t>
            </a:r>
          </a:p>
          <a:p xmlns:a="http://schemas.openxmlformats.org/drawingml/2006/main">
            <a:pPr>
              <a:defRPr sz="3525" b="1">
                <a:solidFill>
                  <a:srgbClr val="14191B"/>
                </a:solidFill>
                <a:latin typeface="Nimbus Sans"/>
                <a:ea typeface="Nimbus Sans"/>
                <a:cs typeface="Nimbus Sans"/>
              </a:defRPr>
            </a:pPr>
            <a:r>
              <a:rPr sz="3525" b="1">
                <a:solidFill>
                  <a:srgbClr val="14191B"/>
                </a:solidFill>
                <a:latin typeface="Nimbus Sans"/>
                <a:ea typeface="Nimbus Sans"/>
                <a:cs typeface="Nimbus Sans"/>
              </a:rPr>
              <a:t>expensive clinical failures</a:t>
            </a:r>
          </a:p>
        </p:txBody>
      </p:sp>
      <p:sp>
        <p:nvSpPr>
          <p:cNvPr id="2" name="">
            <a:extLst xmlns:a="http://schemas.openxmlformats.org/drawingml/2006/main">
              <a:ext uri="{FF2B5EF4-FFF2-40B4-BE49-F238E27FC236}">
                <a16:creationId xmlns:a16="http://schemas.microsoft.com/office/drawing/2014/main" id="{F95BA8F9-2135-4958-9F67-4EB6DCC46550}"/>
              </a:ext>
            </a:extLst>
          </p:cNvPr>
          <p:cNvSpPr>
            <a:spLocks xmlns:a="http://schemas.openxmlformats.org/drawingml/2006/main" noGrp="1"/>
          </p:cNvSpPr>
          <p:nvPr/>
        </p:nvSpPr>
        <p:spPr>
          <a:xfrm xmlns:a="http://schemas.openxmlformats.org/drawingml/2006/main">
            <a:off x="685800" y="1619250"/>
            <a:ext cx="10572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626A6B"/>
                </a:solidFill>
                <a:latin typeface="Nimbus Sans"/>
                <a:ea typeface="Nimbus Sans"/>
                <a:cs typeface="Nimbus Sans"/>
              </a:defRPr>
            </a:pPr>
            <a:r>
              <a:rPr sz="1875" b="0">
                <a:solidFill>
                  <a:srgbClr val="626A6B"/>
                </a:solidFill>
                <a:latin typeface="Nimbus Sans"/>
                <a:ea typeface="Nimbus Sans"/>
                <a:cs typeface="Nimbus Sans"/>
              </a:rPr>
              <a:t>Sanofi, Roche and AstraZeneca are research candidates for a more productive R&amp;D engine.</a:t>
            </a:r>
          </a:p>
        </p:txBody>
      </p:sp>
      <p:sp>
        <p:nvSpPr>
          <p:cNvPr id="3" name="">
            <a:extLst xmlns:a="http://schemas.openxmlformats.org/drawingml/2006/main">
              <a:ext uri="{FF2B5EF4-FFF2-40B4-BE49-F238E27FC236}">
                <a16:creationId xmlns:a16="http://schemas.microsoft.com/office/drawing/2014/main" id="{8D866A14-CE67-45F3-BF6A-629045C584A9}"/>
              </a:ext>
            </a:extLst>
          </p:cNvPr>
          <p:cNvSpPr>
            <a:spLocks xmlns:a="http://schemas.openxmlformats.org/drawingml/2006/main" noGrp="1"/>
          </p:cNvSpPr>
          <p:nvPr/>
        </p:nvSpPr>
        <p:spPr>
          <a:xfrm xmlns:a="http://schemas.openxmlformats.org/drawingml/2006/main">
            <a:off x="11191875" y="6334125"/>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626A6B"/>
                </a:solidFill>
                <a:latin typeface="Nimbus Sans"/>
                <a:ea typeface="Nimbus Sans"/>
                <a:cs typeface="Nimbus Sans"/>
              </a:defRPr>
            </a:pPr>
            <a:r>
              <a:rPr sz="1275" b="0">
                <a:solidFill>
                  <a:srgbClr val="626A6B"/>
                </a:solidFill>
                <a:latin typeface="Nimbus Sans"/>
                <a:ea typeface="Nimbus Sans"/>
                <a:cs typeface="Nimbus Sans"/>
              </a:rPr>
              <a:t>05</a:t>
            </a:r>
          </a:p>
        </p:txBody>
      </p:sp>
      <p:sp>
        <p:nvSpPr>
          <p:cNvPr id="4" name="">
            <a:extLst xmlns:a="http://schemas.openxmlformats.org/drawingml/2006/main">
              <a:ext uri="{FF2B5EF4-FFF2-40B4-BE49-F238E27FC236}">
                <a16:creationId xmlns:a16="http://schemas.microsoft.com/office/drawing/2014/main" id="{AE51D0B3-E90A-4685-8F14-F67E1F3258D4}"/>
              </a:ext>
            </a:extLst>
          </p:cNvPr>
          <p:cNvSpPr>
            <a:spLocks xmlns:a="http://schemas.openxmlformats.org/drawingml/2006/main" noGrp="1"/>
          </p:cNvSpPr>
          <p:nvPr/>
        </p:nvSpPr>
        <p:spPr>
          <a:xfrm xmlns:a="http://schemas.openxmlformats.org/drawingml/2006/main">
            <a:off x="704850" y="2619375"/>
            <a:ext cx="352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a:solidFill>
                  <a:srgbClr val="527D70"/>
                </a:solidFill>
                <a:latin typeface="Nimbus Sans"/>
                <a:ea typeface="Nimbus Sans"/>
                <a:cs typeface="Nimbus Sans"/>
              </a:defRPr>
            </a:pPr>
            <a:r>
              <a:rPr sz="2250" b="1">
                <a:solidFill>
                  <a:srgbClr val="527D70"/>
                </a:solidFill>
                <a:latin typeface="Nimbus Sans"/>
                <a:ea typeface="Nimbus Sans"/>
                <a:cs typeface="Nimbus Sans"/>
              </a:rPr>
              <a:t>Scarce asset</a:t>
            </a:r>
          </a:p>
        </p:txBody>
      </p:sp>
      <p:sp>
        <p:nvSpPr>
          <p:cNvPr id="5" name="">
            <a:extLst xmlns:a="http://schemas.openxmlformats.org/drawingml/2006/main">
              <a:ext uri="{FF2B5EF4-FFF2-40B4-BE49-F238E27FC236}">
                <a16:creationId xmlns:a16="http://schemas.microsoft.com/office/drawing/2014/main" id="{8FE45950-7720-4711-BAE3-2DC5C841D9F2}"/>
              </a:ext>
            </a:extLst>
          </p:cNvPr>
          <p:cNvSpPr>
            <a:spLocks xmlns:a="http://schemas.openxmlformats.org/drawingml/2006/main" noGrp="1"/>
          </p:cNvSpPr>
          <p:nvPr/>
        </p:nvSpPr>
        <p:spPr>
          <a:xfrm xmlns:a="http://schemas.openxmlformats.org/drawingml/2006/main">
            <a:off x="4514850" y="2619375"/>
            <a:ext cx="67246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4191B"/>
                </a:solidFill>
                <a:latin typeface="Nimbus Sans"/>
                <a:ea typeface="Nimbus Sans"/>
                <a:cs typeface="Nimbus Sans"/>
              </a:defRPr>
            </a:pPr>
            <a:r>
              <a:rPr sz="2025" b="0">
                <a:solidFill>
                  <a:srgbClr val="14191B"/>
                </a:solidFill>
                <a:latin typeface="Nimbus Sans"/>
                <a:ea typeface="Nimbus Sans"/>
                <a:cs typeface="Nimbus Sans"/>
              </a:rPr>
              <a:t>Experimental history plus the ability to run new science</a:t>
            </a:r>
          </a:p>
        </p:txBody>
      </p:sp>
      <p:sp>
        <p:nvSpPr>
          <p:cNvPr id="6" name="">
            <a:extLst xmlns:a="http://schemas.openxmlformats.org/drawingml/2006/main">
              <a:ext uri="{FF2B5EF4-FFF2-40B4-BE49-F238E27FC236}">
                <a16:creationId xmlns:a16="http://schemas.microsoft.com/office/drawing/2014/main" id="{BB3C7F04-86ED-4B81-A1D3-88486BC38D05}"/>
              </a:ext>
            </a:extLst>
          </p:cNvPr>
          <p:cNvSpPr>
            <a:spLocks xmlns:a="http://schemas.openxmlformats.org/drawingml/2006/main" noGrp="1"/>
          </p:cNvSpPr>
          <p:nvPr/>
        </p:nvSpPr>
        <p:spPr>
          <a:xfrm xmlns:a="http://schemas.openxmlformats.org/drawingml/2006/main">
            <a:off x="704850" y="3676650"/>
            <a:ext cx="352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a:solidFill>
                  <a:srgbClr val="527D70"/>
                </a:solidFill>
                <a:latin typeface="Nimbus Sans"/>
                <a:ea typeface="Nimbus Sans"/>
                <a:cs typeface="Nimbus Sans"/>
              </a:defRPr>
            </a:pPr>
            <a:r>
              <a:rPr sz="2250" b="1">
                <a:solidFill>
                  <a:srgbClr val="527D70"/>
                </a:solidFill>
                <a:latin typeface="Nimbus Sans"/>
                <a:ea typeface="Nimbus Sans"/>
                <a:cs typeface="Nimbus Sans"/>
              </a:rPr>
              <a:t>AI mechanism</a:t>
            </a:r>
          </a:p>
        </p:txBody>
      </p:sp>
      <p:sp>
        <p:nvSpPr>
          <p:cNvPr id="7" name="">
            <a:extLst xmlns:a="http://schemas.openxmlformats.org/drawingml/2006/main">
              <a:ext uri="{FF2B5EF4-FFF2-40B4-BE49-F238E27FC236}">
                <a16:creationId xmlns:a16="http://schemas.microsoft.com/office/drawing/2014/main" id="{25738409-6DC5-456F-B3EA-297D06F41840}"/>
              </a:ext>
            </a:extLst>
          </p:cNvPr>
          <p:cNvSpPr>
            <a:spLocks xmlns:a="http://schemas.openxmlformats.org/drawingml/2006/main" noGrp="1"/>
          </p:cNvSpPr>
          <p:nvPr/>
        </p:nvSpPr>
        <p:spPr>
          <a:xfrm xmlns:a="http://schemas.openxmlformats.org/drawingml/2006/main">
            <a:off x="4514850" y="3676650"/>
            <a:ext cx="67246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4191B"/>
                </a:solidFill>
                <a:latin typeface="Nimbus Sans"/>
                <a:ea typeface="Nimbus Sans"/>
                <a:cs typeface="Nimbus Sans"/>
              </a:defRPr>
            </a:pPr>
            <a:r>
              <a:rPr sz="2025" b="0">
                <a:solidFill>
                  <a:srgbClr val="14191B"/>
                </a:solidFill>
                <a:latin typeface="Nimbus Sans"/>
                <a:ea typeface="Nimbus Sans"/>
                <a:cs typeface="Nimbus Sans"/>
              </a:rPr>
              <a:t>Better selection, earlier rejection and sharper patient stratification</a:t>
            </a:r>
          </a:p>
        </p:txBody>
      </p:sp>
      <p:sp>
        <p:nvSpPr>
          <p:cNvPr id="8" name="">
            <a:extLst xmlns:a="http://schemas.openxmlformats.org/drawingml/2006/main">
              <a:ext uri="{FF2B5EF4-FFF2-40B4-BE49-F238E27FC236}">
                <a16:creationId xmlns:a16="http://schemas.microsoft.com/office/drawing/2014/main" id="{9BAB1D9B-32BE-4A52-9D5A-CB074652A492}"/>
              </a:ext>
            </a:extLst>
          </p:cNvPr>
          <p:cNvSpPr>
            <a:spLocks xmlns:a="http://schemas.openxmlformats.org/drawingml/2006/main" noGrp="1"/>
          </p:cNvSpPr>
          <p:nvPr/>
        </p:nvSpPr>
        <p:spPr>
          <a:xfrm xmlns:a="http://schemas.openxmlformats.org/drawingml/2006/main">
            <a:off x="704850" y="4733925"/>
            <a:ext cx="352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a:solidFill>
                  <a:srgbClr val="527D70"/>
                </a:solidFill>
                <a:latin typeface="Nimbus Sans"/>
                <a:ea typeface="Nimbus Sans"/>
                <a:cs typeface="Nimbus Sans"/>
              </a:defRPr>
            </a:pPr>
            <a:r>
              <a:rPr sz="2250" b="1">
                <a:solidFill>
                  <a:srgbClr val="527D70"/>
                </a:solidFill>
                <a:latin typeface="Nimbus Sans"/>
                <a:ea typeface="Nimbus Sans"/>
                <a:cs typeface="Nimbus Sans"/>
              </a:rPr>
              <a:t>Proof that matters</a:t>
            </a:r>
          </a:p>
        </p:txBody>
      </p:sp>
      <p:sp>
        <p:nvSpPr>
          <p:cNvPr id="9" name="">
            <a:extLst xmlns:a="http://schemas.openxmlformats.org/drawingml/2006/main">
              <a:ext uri="{FF2B5EF4-FFF2-40B4-BE49-F238E27FC236}">
                <a16:creationId xmlns:a16="http://schemas.microsoft.com/office/drawing/2014/main" id="{42CD42CA-9F86-4AF7-946F-76D469440921}"/>
              </a:ext>
            </a:extLst>
          </p:cNvPr>
          <p:cNvSpPr>
            <a:spLocks xmlns:a="http://schemas.openxmlformats.org/drawingml/2006/main" noGrp="1"/>
          </p:cNvSpPr>
          <p:nvPr/>
        </p:nvSpPr>
        <p:spPr>
          <a:xfrm xmlns:a="http://schemas.openxmlformats.org/drawingml/2006/main">
            <a:off x="4514850" y="4733925"/>
            <a:ext cx="67246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4191B"/>
                </a:solidFill>
                <a:latin typeface="Nimbus Sans"/>
                <a:ea typeface="Nimbus Sans"/>
                <a:cs typeface="Nimbus Sans"/>
              </a:defRPr>
            </a:pPr>
            <a:r>
              <a:rPr sz="2025" b="0">
                <a:solidFill>
                  <a:srgbClr val="14191B"/>
                </a:solidFill>
                <a:latin typeface="Nimbus Sans"/>
                <a:ea typeface="Nimbus Sans"/>
                <a:cs typeface="Nimbus Sans"/>
              </a:rPr>
              <a:t>Stage-adjusted clinical success and R&amp;D output after full cost</a:t>
            </a:r>
          </a:p>
        </p:txBody>
      </p:sp>
      <p:sp>
        <p:nvSpPr>
          <p:cNvPr id="10" name="">
            <a:extLst xmlns:a="http://schemas.openxmlformats.org/drawingml/2006/main">
              <a:ext uri="{FF2B5EF4-FFF2-40B4-BE49-F238E27FC236}">
                <a16:creationId xmlns:a16="http://schemas.microsoft.com/office/drawing/2014/main" id="{1738854A-CFFB-4BA3-ACFC-3C7BC01699CB}"/>
              </a:ext>
            </a:extLst>
          </p:cNvPr>
          <p:cNvSpPr>
            <a:spLocks xmlns:a="http://schemas.openxmlformats.org/drawingml/2006/main" noGrp="1"/>
          </p:cNvSpPr>
          <p:nvPr/>
        </p:nvSpPr>
        <p:spPr>
          <a:xfrm xmlns:a="http://schemas.openxmlformats.org/drawingml/2006/main">
            <a:off x="704850" y="5972175"/>
            <a:ext cx="10620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626A6B"/>
                </a:solidFill>
                <a:latin typeface="Nimbus Sans"/>
                <a:ea typeface="Nimbus Sans"/>
                <a:cs typeface="Nimbus Sans"/>
              </a:defRPr>
            </a:pPr>
            <a:r>
              <a:rPr sz="1500" b="0">
                <a:solidFill>
                  <a:srgbClr val="626A6B"/>
                </a:solidFill>
                <a:latin typeface="Nimbus Sans"/>
                <a:ea typeface="Nimbus Sans"/>
                <a:cs typeface="Nimbus Sans"/>
              </a:rPr>
              <a:t>Clinical validation remains the bottleneck. More candidates alone are weak evidence.</a:t>
            </a:r>
          </a:p>
        </p:txBody>
      </p:sp>
    </p:spTree>
    <p:extLst>
      <p:ext uri="{BB962C8B-B14F-4D97-AF65-F5344CB8AC3E}">
        <p14:creationId xmlns:p14="http://schemas.microsoft.com/office/powerpoint/2010/main" val="1614328226"/>
      </p:ext>
    </p:extLst>
  </p:cSld>
</p:sld>
</file>

<file path=ppt/slides/slide6.xml><?xml version="1.0" encoding="utf-8"?>
<p:sld xmlns:p="http://schemas.openxmlformats.org/presentationml/2006/main">
  <p:cSld>
    <p:bg>
      <p:bgPr>
        <a:solidFill xmlns:a="http://schemas.openxmlformats.org/drawingml/2006/main">
          <a:srgbClr val="F3F0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8394EB3-2AA0-4432-804F-50166BAA9F91}"/>
              </a:ext>
            </a:extLst>
          </p:cNvPr>
          <p:cNvSpPr>
            <a:spLocks xmlns:a="http://schemas.openxmlformats.org/drawingml/2006/main" noGrp="1"/>
          </p:cNvSpPr>
          <p:nvPr/>
        </p:nvSpPr>
        <p:spPr>
          <a:xfrm xmlns:a="http://schemas.openxmlformats.org/drawingml/2006/main">
            <a:off x="666750" y="552450"/>
            <a:ext cx="107632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525" b="1">
                <a:solidFill>
                  <a:srgbClr val="14191B"/>
                </a:solidFill>
                <a:latin typeface="Nimbus Sans"/>
                <a:ea typeface="Nimbus Sans"/>
                <a:cs typeface="Nimbus Sans"/>
              </a:defRPr>
            </a:pPr>
            <a:r>
              <a:rPr sz="3525" b="1">
                <a:solidFill>
                  <a:srgbClr val="14191B"/>
                </a:solidFill>
                <a:latin typeface="Nimbus Sans"/>
                <a:ea typeface="Nimbus Sans"/>
                <a:cs typeface="Nimbus Sans"/>
              </a:rPr>
              <a:t>Trusted content can support</a:t>
            </a:r>
          </a:p>
          <a:p xmlns:a="http://schemas.openxmlformats.org/drawingml/2006/main">
            <a:pPr>
              <a:defRPr sz="3525" b="1">
                <a:solidFill>
                  <a:srgbClr val="14191B"/>
                </a:solidFill>
                <a:latin typeface="Nimbus Sans"/>
                <a:ea typeface="Nimbus Sans"/>
                <a:cs typeface="Nimbus Sans"/>
              </a:defRPr>
            </a:pPr>
            <a:r>
              <a:rPr sz="3525" b="1">
                <a:solidFill>
                  <a:srgbClr val="14191B"/>
                </a:solidFill>
                <a:latin typeface="Nimbus Sans"/>
                <a:ea typeface="Nimbus Sans"/>
                <a:cs typeface="Nimbus Sans"/>
              </a:rPr>
              <a:t>more valuable professional work</a:t>
            </a:r>
          </a:p>
        </p:txBody>
      </p:sp>
      <p:sp>
        <p:nvSpPr>
          <p:cNvPr id="2" name="">
            <a:extLst xmlns:a="http://schemas.openxmlformats.org/drawingml/2006/main">
              <a:ext uri="{FF2B5EF4-FFF2-40B4-BE49-F238E27FC236}">
                <a16:creationId xmlns:a16="http://schemas.microsoft.com/office/drawing/2014/main" id="{BAF641C0-B0BA-4359-B283-D54A6BCB4E8C}"/>
              </a:ext>
            </a:extLst>
          </p:cNvPr>
          <p:cNvSpPr>
            <a:spLocks xmlns:a="http://schemas.openxmlformats.org/drawingml/2006/main" noGrp="1"/>
          </p:cNvSpPr>
          <p:nvPr/>
        </p:nvSpPr>
        <p:spPr>
          <a:xfrm xmlns:a="http://schemas.openxmlformats.org/drawingml/2006/main">
            <a:off x="685800" y="1619250"/>
            <a:ext cx="10572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626A6B"/>
                </a:solidFill>
                <a:latin typeface="Nimbus Sans"/>
                <a:ea typeface="Nimbus Sans"/>
                <a:cs typeface="Nimbus Sans"/>
              </a:defRPr>
            </a:pPr>
            <a:r>
              <a:rPr sz="1875" b="0">
                <a:solidFill>
                  <a:srgbClr val="626A6B"/>
                </a:solidFill>
                <a:latin typeface="Nimbus Sans"/>
                <a:ea typeface="Nimbus Sans"/>
                <a:cs typeface="Nimbus Sans"/>
              </a:rPr>
              <a:t>The opportunity is paid task completion inside established customer workflows.</a:t>
            </a:r>
          </a:p>
        </p:txBody>
      </p:sp>
      <p:sp>
        <p:nvSpPr>
          <p:cNvPr id="3" name="">
            <a:extLst xmlns:a="http://schemas.openxmlformats.org/drawingml/2006/main">
              <a:ext uri="{FF2B5EF4-FFF2-40B4-BE49-F238E27FC236}">
                <a16:creationId xmlns:a16="http://schemas.microsoft.com/office/drawing/2014/main" id="{9A64BC13-A41E-4A11-9258-CBB1BB2FE22C}"/>
              </a:ext>
            </a:extLst>
          </p:cNvPr>
          <p:cNvSpPr>
            <a:spLocks xmlns:a="http://schemas.openxmlformats.org/drawingml/2006/main" noGrp="1"/>
          </p:cNvSpPr>
          <p:nvPr/>
        </p:nvSpPr>
        <p:spPr>
          <a:xfrm xmlns:a="http://schemas.openxmlformats.org/drawingml/2006/main">
            <a:off x="11191875" y="6334125"/>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626A6B"/>
                </a:solidFill>
                <a:latin typeface="Nimbus Sans"/>
                <a:ea typeface="Nimbus Sans"/>
                <a:cs typeface="Nimbus Sans"/>
              </a:defRPr>
            </a:pPr>
            <a:r>
              <a:rPr sz="1275" b="0">
                <a:solidFill>
                  <a:srgbClr val="626A6B"/>
                </a:solidFill>
                <a:latin typeface="Nimbus Sans"/>
                <a:ea typeface="Nimbus Sans"/>
                <a:cs typeface="Nimbus Sans"/>
              </a:rPr>
              <a:t>06</a:t>
            </a:r>
          </a:p>
        </p:txBody>
      </p:sp>
      <p:graphicFrame>
        <p:nvGraphicFramePr>
          <p:cNvPr id="9" name=""/>
          <p:cNvGraphicFramePr/>
          <p:nvPr/>
        </p:nvGraphicFramePr>
        <p:xfrm>
          <a:off xmlns:a="http://schemas.openxmlformats.org/drawingml/2006/main" x="685800" y="2571750"/>
          <a:ext xmlns:a="http://schemas.openxmlformats.org/drawingml/2006/main" cx="10820400" cy="3000375"/>
        </p:xfrm>
        <a:graphic xmlns:a="http://schemas.openxmlformats.org/drawingml/2006/main">
          <a:graphicData uri="http://schemas.openxmlformats.org/drawingml/2006/table">
            <a:tbl>
              <a:tblPr firstRow="0" bandRow="0"/>
              <a:tblGrid>
                <a:gridCol w="2524125"/>
                <a:gridCol w="4095750"/>
                <a:gridCol w="4200525"/>
              </a:tblGrid>
              <a:tr h="476250">
                <a:tc>
                  <a:txBody>
                    <a:bodyPr/>
                    <a:lstStyle/>
                    <a:p>
                      <a:r>
                        <a:rPr sz="1500" b="1">
                          <a:solidFill>
                            <a:srgbClr val="FCFBF7"/>
                          </a:solidFill>
                          <a:latin typeface="Nimbus Sans"/>
                          <a:ea typeface="Nimbus Sans"/>
                          <a:cs typeface="Nimbus Sans"/>
                        </a:rPr>
                        <a:t>Candidate</a:t>
                      </a:r>
                    </a:p>
                  </a:txBody>
                  <a:tcPr marL="91440" marR="91440" marT="45720" marB="45720">
                    <a:solidFill>
                      <a:srgbClr val="14191B"/>
                    </a:solidFill>
                  </a:tcPr>
                </a:tc>
                <a:tc>
                  <a:txBody>
                    <a:bodyPr/>
                    <a:lstStyle/>
                    <a:p>
                      <a:r>
                        <a:rPr sz="1500" b="1">
                          <a:solidFill>
                            <a:srgbClr val="FCFBF7"/>
                          </a:solidFill>
                          <a:latin typeface="Nimbus Sans"/>
                          <a:ea typeface="Nimbus Sans"/>
                          <a:cs typeface="Nimbus Sans"/>
                        </a:rPr>
                        <a:t>Potential advantage</a:t>
                      </a:r>
                    </a:p>
                  </a:txBody>
                  <a:tcPr marL="91440" marR="91440" marT="45720" marB="45720">
                    <a:solidFill>
                      <a:srgbClr val="14191B"/>
                    </a:solidFill>
                  </a:tcPr>
                </a:tc>
                <a:tc>
                  <a:txBody>
                    <a:bodyPr/>
                    <a:lstStyle/>
                    <a:p>
                      <a:r>
                        <a:rPr sz="1500" b="1">
                          <a:solidFill>
                            <a:srgbClr val="FCFBF7"/>
                          </a:solidFill>
                          <a:latin typeface="Nimbus Sans"/>
                          <a:ea typeface="Nimbus Sans"/>
                          <a:cs typeface="Nimbus Sans"/>
                        </a:rPr>
                        <a:t>Decisive test</a:t>
                      </a:r>
                    </a:p>
                  </a:txBody>
                  <a:tcPr marL="91440" marR="91440" marT="45720" marB="45720">
                    <a:solidFill>
                      <a:srgbClr val="14191B"/>
                    </a:solidFill>
                  </a:tcPr>
                </a:tc>
              </a:tr>
              <a:tr h="841375">
                <a:tc>
                  <a:txBody>
                    <a:bodyPr/>
                    <a:lstStyle/>
                    <a:p>
                      <a:r>
                        <a:rPr sz="1950" b="0">
                          <a:solidFill>
                            <a:srgbClr val="14191B"/>
                          </a:solidFill>
                          <a:latin typeface="Nimbus Sans"/>
                          <a:ea typeface="Nimbus Sans"/>
                          <a:cs typeface="Nimbus Sans"/>
                        </a:rPr>
                        <a:t>RELX</a:t>
                      </a:r>
                    </a:p>
                  </a:txBody>
                  <a:tcPr marL="91440" marR="91440" marT="45720" marB="45720">
                    <a:solidFill>
                      <a:srgbClr val="F3F0E8"/>
                    </a:solidFill>
                  </a:tcPr>
                </a:tc>
                <a:tc>
                  <a:txBody>
                    <a:bodyPr/>
                    <a:lstStyle/>
                    <a:p>
                      <a:r>
                        <a:rPr sz="1950" b="0">
                          <a:solidFill>
                            <a:srgbClr val="14191B"/>
                          </a:solidFill>
                          <a:latin typeface="Nimbus Sans"/>
                          <a:ea typeface="Nimbus Sans"/>
                          <a:cs typeface="Nimbus Sans"/>
                        </a:rPr>
                        <a:t>Enriched content and</a:t>
                      </a:r>
                    </a:p>
                    <a:p>
                      <a:r>
                        <a:rPr sz="1950" b="0">
                          <a:solidFill>
                            <a:srgbClr val="14191B"/>
                          </a:solidFill>
                          <a:latin typeface="Nimbus Sans"/>
                          <a:ea typeface="Nimbus Sans"/>
                          <a:cs typeface="Nimbus Sans"/>
                        </a:rPr>
                        <a:t>citation-aware workflows</a:t>
                      </a:r>
                    </a:p>
                  </a:txBody>
                  <a:tcPr marL="91440" marR="91440" marT="45720" marB="45720">
                    <a:solidFill>
                      <a:srgbClr val="F3F0E8"/>
                    </a:solidFill>
                  </a:tcPr>
                </a:tc>
                <a:tc>
                  <a:txBody>
                    <a:bodyPr/>
                    <a:lstStyle/>
                    <a:p>
                      <a:r>
                        <a:rPr sz="1950" b="0">
                          <a:solidFill>
                            <a:srgbClr val="14191B"/>
                          </a:solidFill>
                          <a:latin typeface="Nimbus Sans"/>
                          <a:ea typeface="Nimbus Sans"/>
                          <a:cs typeface="Nimbus Sans"/>
                        </a:rPr>
                        <a:t>Revenue per customer</a:t>
                      </a:r>
                    </a:p>
                    <a:p>
                      <a:r>
                        <a:rPr sz="1950" b="0">
                          <a:solidFill>
                            <a:srgbClr val="14191B"/>
                          </a:solidFill>
                          <a:latin typeface="Nimbus Sans"/>
                          <a:ea typeface="Nimbus Sans"/>
                          <a:cs typeface="Nimbus Sans"/>
                        </a:rPr>
                        <a:t>after seat substitution</a:t>
                      </a:r>
                    </a:p>
                  </a:txBody>
                  <a:tcPr marL="91440" marR="91440" marT="45720" marB="45720">
                    <a:solidFill>
                      <a:srgbClr val="F3F0E8"/>
                    </a:solidFill>
                  </a:tcPr>
                </a:tc>
              </a:tr>
              <a:tr h="841375">
                <a:tc>
                  <a:txBody>
                    <a:bodyPr/>
                    <a:lstStyle/>
                    <a:p>
                      <a:r>
                        <a:rPr sz="1950" b="0">
                          <a:solidFill>
                            <a:srgbClr val="14191B"/>
                          </a:solidFill>
                          <a:latin typeface="Nimbus Sans"/>
                          <a:ea typeface="Nimbus Sans"/>
                          <a:cs typeface="Nimbus Sans"/>
                        </a:rPr>
                        <a:t>Thomson Reuters</a:t>
                      </a:r>
                    </a:p>
                  </a:txBody>
                  <a:tcPr marL="91440" marR="91440" marT="45720" marB="45720">
                    <a:solidFill>
                      <a:srgbClr val="F3F0E8"/>
                    </a:solidFill>
                  </a:tcPr>
                </a:tc>
                <a:tc>
                  <a:txBody>
                    <a:bodyPr/>
                    <a:lstStyle/>
                    <a:p>
                      <a:r>
                        <a:rPr sz="1950" b="0">
                          <a:solidFill>
                            <a:srgbClr val="14191B"/>
                          </a:solidFill>
                          <a:latin typeface="Nimbus Sans"/>
                          <a:ea typeface="Nimbus Sans"/>
                          <a:cs typeface="Nimbus Sans"/>
                        </a:rPr>
                        <a:t>Legal and tax content</a:t>
                      </a:r>
                    </a:p>
                    <a:p>
                      <a:r>
                        <a:rPr sz="1950" b="0">
                          <a:solidFill>
                            <a:srgbClr val="14191B"/>
                          </a:solidFill>
                          <a:latin typeface="Nimbus Sans"/>
                          <a:ea typeface="Nimbus Sans"/>
                          <a:cs typeface="Nimbus Sans"/>
                        </a:rPr>
                        <a:t>inside CoCounsel</a:t>
                      </a:r>
                    </a:p>
                  </a:txBody>
                  <a:tcPr marL="91440" marR="91440" marT="45720" marB="45720">
                    <a:solidFill>
                      <a:srgbClr val="F3F0E8"/>
                    </a:solidFill>
                  </a:tcPr>
                </a:tc>
                <a:tc>
                  <a:txBody>
                    <a:bodyPr/>
                    <a:lstStyle/>
                    <a:p>
                      <a:r>
                        <a:rPr sz="1950" b="0">
                          <a:solidFill>
                            <a:srgbClr val="14191B"/>
                          </a:solidFill>
                          <a:latin typeface="Nimbus Sans"/>
                          <a:ea typeface="Nimbus Sans"/>
                          <a:cs typeface="Nimbus Sans"/>
                        </a:rPr>
                        <a:t>Paid renewals and</a:t>
                      </a:r>
                    </a:p>
                    <a:p>
                      <a:r>
                        <a:rPr sz="1950" b="0">
                          <a:solidFill>
                            <a:srgbClr val="14191B"/>
                          </a:solidFill>
                          <a:latin typeface="Nimbus Sans"/>
                          <a:ea typeface="Nimbus Sans"/>
                          <a:cs typeface="Nimbus Sans"/>
                        </a:rPr>
                        <a:t>net contribution</a:t>
                      </a:r>
                    </a:p>
                  </a:txBody>
                  <a:tcPr marL="91440" marR="91440" marT="45720" marB="45720">
                    <a:solidFill>
                      <a:srgbClr val="F3F0E8"/>
                    </a:solidFill>
                  </a:tcPr>
                </a:tc>
              </a:tr>
              <a:tr h="841375">
                <a:tc>
                  <a:txBody>
                    <a:bodyPr/>
                    <a:lstStyle/>
                    <a:p>
                      <a:r>
                        <a:rPr sz="1950" b="0">
                          <a:solidFill>
                            <a:srgbClr val="14191B"/>
                          </a:solidFill>
                          <a:latin typeface="Nimbus Sans"/>
                          <a:ea typeface="Nimbus Sans"/>
                          <a:cs typeface="Nimbus Sans"/>
                        </a:rPr>
                        <a:t>Wolters Kluwer</a:t>
                      </a:r>
                    </a:p>
                  </a:txBody>
                  <a:tcPr marL="91440" marR="91440" marT="45720" marB="45720">
                    <a:solidFill>
                      <a:srgbClr val="F3F0E8"/>
                    </a:solidFill>
                  </a:tcPr>
                </a:tc>
                <a:tc>
                  <a:txBody>
                    <a:bodyPr/>
                    <a:lstStyle/>
                    <a:p>
                      <a:r>
                        <a:rPr sz="1950" b="0">
                          <a:solidFill>
                            <a:srgbClr val="14191B"/>
                          </a:solidFill>
                          <a:latin typeface="Nimbus Sans"/>
                          <a:ea typeface="Nimbus Sans"/>
                          <a:cs typeface="Nimbus Sans"/>
                        </a:rPr>
                        <a:t>Domain knowledge inside</a:t>
                      </a:r>
                    </a:p>
                    <a:p>
                      <a:r>
                        <a:rPr sz="1950" b="0">
                          <a:solidFill>
                            <a:srgbClr val="14191B"/>
                          </a:solidFill>
                          <a:latin typeface="Nimbus Sans"/>
                          <a:ea typeface="Nimbus Sans"/>
                          <a:cs typeface="Nimbus Sans"/>
                        </a:rPr>
                        <a:t>expert workflows</a:t>
                      </a:r>
                    </a:p>
                  </a:txBody>
                  <a:tcPr marL="91440" marR="91440" marT="45720" marB="45720">
                    <a:solidFill>
                      <a:srgbClr val="F3F0E8"/>
                    </a:solidFill>
                  </a:tcPr>
                </a:tc>
                <a:tc>
                  <a:txBody>
                    <a:bodyPr/>
                    <a:lstStyle/>
                    <a:p>
                      <a:r>
                        <a:rPr sz="1950" b="0">
                          <a:solidFill>
                            <a:srgbClr val="14191B"/>
                          </a:solidFill>
                          <a:latin typeface="Nimbus Sans"/>
                          <a:ea typeface="Nimbus Sans"/>
                          <a:cs typeface="Nimbus Sans"/>
                        </a:rPr>
                        <a:t>Completed work at</a:t>
                      </a:r>
                    </a:p>
                    <a:p>
                      <a:r>
                        <a:rPr sz="1950" b="0">
                          <a:solidFill>
                            <a:srgbClr val="14191B"/>
                          </a:solidFill>
                          <a:latin typeface="Nimbus Sans"/>
                          <a:ea typeface="Nimbus Sans"/>
                          <a:cs typeface="Nimbus Sans"/>
                        </a:rPr>
                        <a:t>equal accuracy</a:t>
                      </a:r>
                    </a:p>
                  </a:txBody>
                  <a:tcPr marL="91440" marR="91440" marT="45720" marB="45720">
                    <a:solidFill>
                      <a:srgbClr val="F3F0E8"/>
                    </a:solidFill>
                  </a:tcPr>
                </a:tc>
              </a:tr>
            </a:tbl>
          </a:graphicData>
        </a:graphic>
      </p:graphicFrame>
      <p:sp>
        <p:nvSpPr>
          <p:cNvPr id="5" name="">
            <a:extLst xmlns:a="http://schemas.openxmlformats.org/drawingml/2006/main">
              <a:ext uri="{FF2B5EF4-FFF2-40B4-BE49-F238E27FC236}">
                <a16:creationId xmlns:a16="http://schemas.microsoft.com/office/drawing/2014/main" id="{49E7EB27-9A10-43B6-A1EB-A300F09006C3}"/>
              </a:ext>
            </a:extLst>
          </p:cNvPr>
          <p:cNvSpPr>
            <a:spLocks xmlns:a="http://schemas.openxmlformats.org/drawingml/2006/main" noGrp="1"/>
          </p:cNvSpPr>
          <p:nvPr/>
        </p:nvSpPr>
        <p:spPr>
          <a:xfrm xmlns:a="http://schemas.openxmlformats.org/drawingml/2006/main">
            <a:off x="704850" y="5953125"/>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1">
                <a:solidFill>
                  <a:srgbClr val="527D70"/>
                </a:solidFill>
                <a:latin typeface="Nimbus Sans"/>
                <a:ea typeface="Nimbus Sans"/>
                <a:cs typeface="Nimbus Sans"/>
              </a:defRPr>
            </a:pPr>
            <a:r>
              <a:rPr sz="1575" b="1">
                <a:solidFill>
                  <a:srgbClr val="527D70"/>
                </a:solidFill>
                <a:latin typeface="Nimbus Sans"/>
                <a:ea typeface="Nimbus Sans"/>
                <a:cs typeface="Nimbus Sans"/>
              </a:rPr>
              <a:t>Data access does not automatically confer cross-customer training rights.</a:t>
            </a:r>
          </a:p>
        </p:txBody>
      </p:sp>
    </p:spTree>
    <p:extLst>
      <p:ext uri="{BB962C8B-B14F-4D97-AF65-F5344CB8AC3E}">
        <p14:creationId xmlns:p14="http://schemas.microsoft.com/office/powerpoint/2010/main" val="1887005198"/>
      </p:ext>
    </p:extLst>
  </p:cSld>
</p:sld>
</file>

<file path=ppt/slides/slide7.xml><?xml version="1.0" encoding="utf-8"?>
<p:sld xmlns:p="http://schemas.openxmlformats.org/presentationml/2006/main">
  <p:cSld>
    <p:bg>
      <p:bgPr>
        <a:solidFill xmlns:a="http://schemas.openxmlformats.org/drawingml/2006/main">
          <a:srgbClr val="14191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91E4008-253C-45A4-9B34-47AB01033396}"/>
              </a:ext>
            </a:extLst>
          </p:cNvPr>
          <p:cNvSpPr>
            <a:spLocks xmlns:a="http://schemas.openxmlformats.org/drawingml/2006/main" noGrp="1"/>
          </p:cNvSpPr>
          <p:nvPr/>
        </p:nvSpPr>
        <p:spPr>
          <a:xfrm xmlns:a="http://schemas.openxmlformats.org/drawingml/2006/main">
            <a:off x="666750" y="552450"/>
            <a:ext cx="107632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525" b="1">
                <a:solidFill>
                  <a:srgbClr val="FCFBF7"/>
                </a:solidFill>
                <a:latin typeface="Nimbus Sans"/>
                <a:ea typeface="Nimbus Sans"/>
                <a:cs typeface="Nimbus Sans"/>
              </a:defRPr>
            </a:pPr>
            <a:r>
              <a:rPr sz="3525" b="1">
                <a:solidFill>
                  <a:srgbClr val="FCFBF7"/>
                </a:solidFill>
                <a:latin typeface="Nimbus Sans"/>
                <a:ea typeface="Nimbus Sans"/>
                <a:cs typeface="Nimbus Sans"/>
              </a:rPr>
              <a:t>Physical assets create a second</a:t>
            </a:r>
          </a:p>
          <a:p xmlns:a="http://schemas.openxmlformats.org/drawingml/2006/main">
            <a:pPr>
              <a:defRPr sz="3525" b="1">
                <a:solidFill>
                  <a:srgbClr val="FCFBF7"/>
                </a:solidFill>
                <a:latin typeface="Nimbus Sans"/>
                <a:ea typeface="Nimbus Sans"/>
                <a:cs typeface="Nimbus Sans"/>
              </a:defRPr>
            </a:pPr>
            <a:r>
              <a:rPr sz="3525" b="1">
                <a:solidFill>
                  <a:srgbClr val="FCFBF7"/>
                </a:solidFill>
                <a:latin typeface="Nimbus Sans"/>
                <a:ea typeface="Nimbus Sans"/>
                <a:cs typeface="Nimbus Sans"/>
              </a:rPr>
              <a:t>route to productivity</a:t>
            </a:r>
          </a:p>
        </p:txBody>
      </p:sp>
      <p:sp>
        <p:nvSpPr>
          <p:cNvPr id="2" name="">
            <a:extLst xmlns:a="http://schemas.openxmlformats.org/drawingml/2006/main">
              <a:ext uri="{FF2B5EF4-FFF2-40B4-BE49-F238E27FC236}">
                <a16:creationId xmlns:a16="http://schemas.microsoft.com/office/drawing/2014/main" id="{655DF093-BD62-4714-A893-0EDBB6D80C83}"/>
              </a:ext>
            </a:extLst>
          </p:cNvPr>
          <p:cNvSpPr>
            <a:spLocks xmlns:a="http://schemas.openxmlformats.org/drawingml/2006/main" noGrp="1"/>
          </p:cNvSpPr>
          <p:nvPr/>
        </p:nvSpPr>
        <p:spPr>
          <a:xfrm xmlns:a="http://schemas.openxmlformats.org/drawingml/2006/main">
            <a:off x="685800" y="1619250"/>
            <a:ext cx="10572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B9C0BE"/>
                </a:solidFill>
                <a:latin typeface="Nimbus Sans"/>
                <a:ea typeface="Nimbus Sans"/>
                <a:cs typeface="Nimbus Sans"/>
              </a:defRPr>
            </a:pPr>
            <a:r>
              <a:rPr sz="1875" b="0">
                <a:solidFill>
                  <a:srgbClr val="B9C0BE"/>
                </a:solidFill>
                <a:latin typeface="Nimbus Sans"/>
                <a:ea typeface="Nimbus Sans"/>
                <a:cs typeface="Nimbus Sans"/>
              </a:rPr>
              <a:t>Existing deployment channels connect better software to real operating work.</a:t>
            </a:r>
          </a:p>
        </p:txBody>
      </p:sp>
      <p:sp>
        <p:nvSpPr>
          <p:cNvPr id="3" name="">
            <a:extLst xmlns:a="http://schemas.openxmlformats.org/drawingml/2006/main">
              <a:ext uri="{FF2B5EF4-FFF2-40B4-BE49-F238E27FC236}">
                <a16:creationId xmlns:a16="http://schemas.microsoft.com/office/drawing/2014/main" id="{2B633A04-698E-4D04-BF7F-6745296C0D07}"/>
              </a:ext>
            </a:extLst>
          </p:cNvPr>
          <p:cNvSpPr>
            <a:spLocks xmlns:a="http://schemas.openxmlformats.org/drawingml/2006/main" noGrp="1"/>
          </p:cNvSpPr>
          <p:nvPr/>
        </p:nvSpPr>
        <p:spPr>
          <a:xfrm xmlns:a="http://schemas.openxmlformats.org/drawingml/2006/main">
            <a:off x="11191875" y="6334125"/>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B9C0BE"/>
                </a:solidFill>
                <a:latin typeface="Nimbus Sans"/>
                <a:ea typeface="Nimbus Sans"/>
                <a:cs typeface="Nimbus Sans"/>
              </a:defRPr>
            </a:pPr>
            <a:r>
              <a:rPr sz="1275" b="0">
                <a:solidFill>
                  <a:srgbClr val="B9C0BE"/>
                </a:solidFill>
                <a:latin typeface="Nimbus Sans"/>
                <a:ea typeface="Nimbus Sans"/>
                <a:cs typeface="Nimbus Sans"/>
              </a:rPr>
              <a:t>07</a:t>
            </a:r>
          </a:p>
        </p:txBody>
      </p:sp>
      <p:sp>
        <p:nvSpPr>
          <p:cNvPr id="4" name="">
            <a:extLst xmlns:a="http://schemas.openxmlformats.org/drawingml/2006/main">
              <a:ext uri="{FF2B5EF4-FFF2-40B4-BE49-F238E27FC236}">
                <a16:creationId xmlns:a16="http://schemas.microsoft.com/office/drawing/2014/main" id="{5439AE31-665B-41DF-AC5B-DEA6E8DCF7C7}"/>
              </a:ext>
            </a:extLst>
          </p:cNvPr>
          <p:cNvSpPr>
            <a:spLocks xmlns:a="http://schemas.openxmlformats.org/drawingml/2006/main" noGrp="1"/>
          </p:cNvSpPr>
          <p:nvPr/>
        </p:nvSpPr>
        <p:spPr>
          <a:xfrm xmlns:a="http://schemas.openxmlformats.org/drawingml/2006/main">
            <a:off x="704850" y="2657475"/>
            <a:ext cx="4191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775" b="1">
                <a:solidFill>
                  <a:srgbClr val="C6A66A"/>
                </a:solidFill>
                <a:latin typeface="Nimbus Sans"/>
                <a:ea typeface="Nimbus Sans"/>
                <a:cs typeface="Nimbus Sans"/>
              </a:defRPr>
            </a:pPr>
            <a:r>
              <a:rPr sz="2775" b="1">
                <a:solidFill>
                  <a:srgbClr val="C6A66A"/>
                </a:solidFill>
                <a:latin typeface="Nimbus Sans"/>
                <a:ea typeface="Nimbus Sans"/>
                <a:cs typeface="Nimbus Sans"/>
              </a:rPr>
              <a:t>Siemens</a:t>
            </a:r>
          </a:p>
        </p:txBody>
      </p:sp>
      <p:sp>
        <p:nvSpPr>
          <p:cNvPr id="5" name="">
            <a:extLst xmlns:a="http://schemas.openxmlformats.org/drawingml/2006/main">
              <a:ext uri="{FF2B5EF4-FFF2-40B4-BE49-F238E27FC236}">
                <a16:creationId xmlns:a16="http://schemas.microsoft.com/office/drawing/2014/main" id="{D13E0A03-BFA9-47A3-AC36-DFF88A2C5BE6}"/>
              </a:ext>
            </a:extLst>
          </p:cNvPr>
          <p:cNvSpPr>
            <a:spLocks xmlns:a="http://schemas.openxmlformats.org/drawingml/2006/main" noGrp="1"/>
          </p:cNvSpPr>
          <p:nvPr/>
        </p:nvSpPr>
        <p:spPr>
          <a:xfrm xmlns:a="http://schemas.openxmlformats.org/drawingml/2006/main">
            <a:off x="704850" y="3476625"/>
            <a:ext cx="4857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FCFBF7"/>
                </a:solidFill>
                <a:latin typeface="Nimbus Sans"/>
                <a:ea typeface="Nimbus Sans"/>
                <a:cs typeface="Nimbus Sans"/>
              </a:defRPr>
            </a:pPr>
            <a:r>
              <a:rPr sz="2250" b="0">
                <a:solidFill>
                  <a:srgbClr val="FCFBF7"/>
                </a:solidFill>
                <a:latin typeface="Nimbus Sans"/>
                <a:ea typeface="Nimbus Sans"/>
                <a:cs typeface="Nimbus Sans"/>
              </a:rPr>
              <a:t>Controls and engineering workflows</a:t>
            </a:r>
          </a:p>
          <a:p xmlns:a="http://schemas.openxmlformats.org/drawingml/2006/main">
            <a:pPr>
              <a:defRPr sz="2250" b="0">
                <a:solidFill>
                  <a:srgbClr val="FCFBF7"/>
                </a:solidFill>
                <a:latin typeface="Nimbus Sans"/>
                <a:ea typeface="Nimbus Sans"/>
                <a:cs typeface="Nimbus Sans"/>
              </a:defRPr>
            </a:pPr>
            <a:r>
              <a:rPr sz="2250" b="0">
                <a:solidFill>
                  <a:srgbClr val="FCFBF7"/>
                </a:solidFill>
                <a:latin typeface="Nimbus Sans"/>
                <a:ea typeface="Nimbus Sans"/>
                <a:cs typeface="Nimbus Sans"/>
              </a:rPr>
              <a:t>can distribute AI across a plant.</a:t>
            </a:r>
          </a:p>
        </p:txBody>
      </p:sp>
      <p:sp>
        <p:nvSpPr>
          <p:cNvPr id="6" name="">
            <a:extLst xmlns:a="http://schemas.openxmlformats.org/drawingml/2006/main">
              <a:ext uri="{FF2B5EF4-FFF2-40B4-BE49-F238E27FC236}">
                <a16:creationId xmlns:a16="http://schemas.microsoft.com/office/drawing/2014/main" id="{2C502B05-7B07-4A5D-8B16-B94B98898AAD}"/>
              </a:ext>
            </a:extLst>
          </p:cNvPr>
          <p:cNvSpPr>
            <a:spLocks xmlns:a="http://schemas.openxmlformats.org/drawingml/2006/main" noGrp="1"/>
          </p:cNvSpPr>
          <p:nvPr/>
        </p:nvSpPr>
        <p:spPr>
          <a:xfrm xmlns:a="http://schemas.openxmlformats.org/drawingml/2006/main">
            <a:off x="6648450" y="2657475"/>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775" b="1">
                <a:solidFill>
                  <a:srgbClr val="C6A66A"/>
                </a:solidFill>
                <a:latin typeface="Nimbus Sans"/>
                <a:ea typeface="Nimbus Sans"/>
                <a:cs typeface="Nimbus Sans"/>
              </a:defRPr>
            </a:pPr>
            <a:r>
              <a:rPr sz="2775" b="1">
                <a:solidFill>
                  <a:srgbClr val="C6A66A"/>
                </a:solidFill>
                <a:latin typeface="Nimbus Sans"/>
                <a:ea typeface="Nimbus Sans"/>
                <a:cs typeface="Nimbus Sans"/>
              </a:rPr>
              <a:t>Amazon</a:t>
            </a:r>
          </a:p>
        </p:txBody>
      </p:sp>
      <p:sp>
        <p:nvSpPr>
          <p:cNvPr id="7" name="">
            <a:extLst xmlns:a="http://schemas.openxmlformats.org/drawingml/2006/main">
              <a:ext uri="{FF2B5EF4-FFF2-40B4-BE49-F238E27FC236}">
                <a16:creationId xmlns:a16="http://schemas.microsoft.com/office/drawing/2014/main" id="{97FF51FD-2289-42EC-83FA-BFF2B48C10FE}"/>
              </a:ext>
            </a:extLst>
          </p:cNvPr>
          <p:cNvSpPr>
            <a:spLocks xmlns:a="http://schemas.openxmlformats.org/drawingml/2006/main" noGrp="1"/>
          </p:cNvSpPr>
          <p:nvPr/>
        </p:nvSpPr>
        <p:spPr>
          <a:xfrm xmlns:a="http://schemas.openxmlformats.org/drawingml/2006/main">
            <a:off x="6648450" y="3476625"/>
            <a:ext cx="4762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FCFBF7"/>
                </a:solidFill>
                <a:latin typeface="Nimbus Sans"/>
                <a:ea typeface="Nimbus Sans"/>
                <a:cs typeface="Nimbus Sans"/>
              </a:defRPr>
            </a:pPr>
            <a:r>
              <a:rPr sz="2250" b="0">
                <a:solidFill>
                  <a:srgbClr val="FCFBF7"/>
                </a:solidFill>
                <a:latin typeface="Nimbus Sans"/>
                <a:ea typeface="Nimbus Sans"/>
                <a:cs typeface="Nimbus Sans"/>
              </a:rPr>
              <a:t>Fulfillment networks generate</a:t>
            </a:r>
          </a:p>
          <a:p xmlns:a="http://schemas.openxmlformats.org/drawingml/2006/main">
            <a:pPr>
              <a:defRPr sz="2250" b="0">
                <a:solidFill>
                  <a:srgbClr val="FCFBF7"/>
                </a:solidFill>
                <a:latin typeface="Nimbus Sans"/>
                <a:ea typeface="Nimbus Sans"/>
                <a:cs typeface="Nimbus Sans"/>
              </a:defRPr>
            </a:pPr>
            <a:r>
              <a:rPr sz="2250" b="0">
                <a:solidFill>
                  <a:srgbClr val="FCFBF7"/>
                </a:solidFill>
                <a:latin typeface="Nimbus Sans"/>
                <a:ea typeface="Nimbus Sans"/>
                <a:cs typeface="Nimbus Sans"/>
              </a:rPr>
              <a:t>operating feedback at scale.</a:t>
            </a:r>
          </a:p>
        </p:txBody>
      </p:sp>
      <p:sp>
        <p:nvSpPr>
          <p:cNvPr id="8" name="">
            <a:extLst xmlns:a="http://schemas.openxmlformats.org/drawingml/2006/main">
              <a:ext uri="{FF2B5EF4-FFF2-40B4-BE49-F238E27FC236}">
                <a16:creationId xmlns:a16="http://schemas.microsoft.com/office/drawing/2014/main" id="{3AF4546D-9B3E-4590-844C-2018767EBC75}"/>
              </a:ext>
            </a:extLst>
          </p:cNvPr>
          <p:cNvSpPr>
            <a:spLocks xmlns:a="http://schemas.openxmlformats.org/drawingml/2006/main" noGrp="1"/>
          </p:cNvSpPr>
          <p:nvPr/>
        </p:nvSpPr>
        <p:spPr>
          <a:xfrm xmlns:a="http://schemas.openxmlformats.org/drawingml/2006/main">
            <a:off x="704850" y="5543550"/>
            <a:ext cx="10620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B9C0BE"/>
                </a:solidFill>
                <a:latin typeface="Nimbus Sans"/>
                <a:ea typeface="Nimbus Sans"/>
                <a:cs typeface="Nimbus Sans"/>
              </a:defRPr>
            </a:pPr>
            <a:r>
              <a:rPr sz="2025" b="0">
                <a:solidFill>
                  <a:srgbClr val="B9C0BE"/>
                </a:solidFill>
                <a:latin typeface="Nimbus Sans"/>
                <a:ea typeface="Nimbus Sans"/>
                <a:cs typeface="Nimbus Sans"/>
              </a:rPr>
              <a:t>The proof is useful output after integration, capital expenditure and human oversight.</a:t>
            </a:r>
          </a:p>
        </p:txBody>
      </p:sp>
    </p:spTree>
    <p:extLst>
      <p:ext uri="{BB962C8B-B14F-4D97-AF65-F5344CB8AC3E}">
        <p14:creationId xmlns:p14="http://schemas.microsoft.com/office/powerpoint/2010/main" val="965592403"/>
      </p:ext>
    </p:extLst>
  </p:cSld>
</p:sld>
</file>

<file path=ppt/slides/slide8.xml><?xml version="1.0" encoding="utf-8"?>
<p:sld xmlns:p="http://schemas.openxmlformats.org/presentationml/2006/main">
  <p:cSld>
    <p:bg>
      <p:bgPr>
        <a:solidFill xmlns:a="http://schemas.openxmlformats.org/drawingml/2006/main">
          <a:srgbClr val="F3F0E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821F3A2-927B-4ECB-8F93-9804C1A599CF}"/>
              </a:ext>
            </a:extLst>
          </p:cNvPr>
          <p:cNvSpPr>
            <a:spLocks xmlns:a="http://schemas.openxmlformats.org/drawingml/2006/main" noGrp="1"/>
          </p:cNvSpPr>
          <p:nvPr/>
        </p:nvSpPr>
        <p:spPr>
          <a:xfrm xmlns:a="http://schemas.openxmlformats.org/drawingml/2006/main">
            <a:off x="666750" y="552450"/>
            <a:ext cx="107632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525" b="1">
                <a:solidFill>
                  <a:srgbClr val="14191B"/>
                </a:solidFill>
                <a:latin typeface="Nimbus Sans"/>
                <a:ea typeface="Nimbus Sans"/>
                <a:cs typeface="Nimbus Sans"/>
              </a:defRPr>
            </a:pPr>
            <a:r>
              <a:rPr sz="3525" b="1">
                <a:solidFill>
                  <a:srgbClr val="14191B"/>
                </a:solidFill>
                <a:latin typeface="Nimbus Sans"/>
                <a:ea typeface="Nimbus Sans"/>
                <a:cs typeface="Nimbus Sans"/>
              </a:rPr>
              <a:t>Task savings can shrink before</a:t>
            </a:r>
          </a:p>
          <a:p xmlns:a="http://schemas.openxmlformats.org/drawingml/2006/main">
            <a:pPr>
              <a:defRPr sz="3525" b="1">
                <a:solidFill>
                  <a:srgbClr val="14191B"/>
                </a:solidFill>
                <a:latin typeface="Nimbus Sans"/>
                <a:ea typeface="Nimbus Sans"/>
                <a:cs typeface="Nimbus Sans"/>
              </a:defRPr>
            </a:pPr>
            <a:r>
              <a:rPr sz="3525" b="1">
                <a:solidFill>
                  <a:srgbClr val="14191B"/>
                </a:solidFill>
                <a:latin typeface="Nimbus Sans"/>
                <a:ea typeface="Nimbus Sans"/>
                <a:cs typeface="Nimbus Sans"/>
              </a:rPr>
              <a:t>they reach shareholders</a:t>
            </a:r>
          </a:p>
        </p:txBody>
      </p:sp>
      <p:sp>
        <p:nvSpPr>
          <p:cNvPr id="2" name="">
            <a:extLst xmlns:a="http://schemas.openxmlformats.org/drawingml/2006/main">
              <a:ext uri="{FF2B5EF4-FFF2-40B4-BE49-F238E27FC236}">
                <a16:creationId xmlns:a16="http://schemas.microsoft.com/office/drawing/2014/main" id="{CFA8CCAF-51B6-4B60-9E76-76AB8DCDC7A5}"/>
              </a:ext>
            </a:extLst>
          </p:cNvPr>
          <p:cNvSpPr>
            <a:spLocks xmlns:a="http://schemas.openxmlformats.org/drawingml/2006/main" noGrp="1"/>
          </p:cNvSpPr>
          <p:nvPr/>
        </p:nvSpPr>
        <p:spPr>
          <a:xfrm xmlns:a="http://schemas.openxmlformats.org/drawingml/2006/main">
            <a:off x="685800" y="1619250"/>
            <a:ext cx="10572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626A6B"/>
                </a:solidFill>
                <a:latin typeface="Nimbus Sans"/>
                <a:ea typeface="Nimbus Sans"/>
                <a:cs typeface="Nimbus Sans"/>
              </a:defRPr>
            </a:pPr>
            <a:r>
              <a:rPr sz="1875" b="0">
                <a:solidFill>
                  <a:srgbClr val="626A6B"/>
                </a:solidFill>
                <a:latin typeface="Nimbus Sans"/>
                <a:ea typeface="Nimbus Sans"/>
                <a:cs typeface="Nimbus Sans"/>
              </a:rPr>
              <a:t>Illustrative operating profit, starting at 20 monetary units. These are assumptions, not forecasts.</a:t>
            </a:r>
          </a:p>
        </p:txBody>
      </p:sp>
      <p:sp>
        <p:nvSpPr>
          <p:cNvPr id="3" name="">
            <a:extLst xmlns:a="http://schemas.openxmlformats.org/drawingml/2006/main">
              <a:ext uri="{FF2B5EF4-FFF2-40B4-BE49-F238E27FC236}">
                <a16:creationId xmlns:a16="http://schemas.microsoft.com/office/drawing/2014/main" id="{D6CE5F01-7312-494B-87A1-08F99F6367F0}"/>
              </a:ext>
            </a:extLst>
          </p:cNvPr>
          <p:cNvSpPr>
            <a:spLocks xmlns:a="http://schemas.openxmlformats.org/drawingml/2006/main" noGrp="1"/>
          </p:cNvSpPr>
          <p:nvPr/>
        </p:nvSpPr>
        <p:spPr>
          <a:xfrm xmlns:a="http://schemas.openxmlformats.org/drawingml/2006/main">
            <a:off x="11191875" y="6334125"/>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626A6B"/>
                </a:solidFill>
                <a:latin typeface="Nimbus Sans"/>
                <a:ea typeface="Nimbus Sans"/>
                <a:cs typeface="Nimbus Sans"/>
              </a:defRPr>
            </a:pPr>
            <a:r>
              <a:rPr sz="1275" b="0">
                <a:solidFill>
                  <a:srgbClr val="626A6B"/>
                </a:solidFill>
                <a:latin typeface="Nimbus Sans"/>
                <a:ea typeface="Nimbus Sans"/>
                <a:cs typeface="Nimbus Sans"/>
              </a:rPr>
              <a:t>08</a:t>
            </a:r>
          </a:p>
        </p:txBody>
      </p:sp>
      <p:graphicFrame>
        <p:nvGraphicFramePr>
          <p:cNvPr id="12" name="Chart"/>
          <p:cNvGraphicFramePr/>
          <p:nvPr/>
        </p:nvGraphicFramePr>
        <p:xfrm>
          <a:off xmlns:a="http://schemas.openxmlformats.org/drawingml/2006/main" x="704850" y="2543175"/>
          <a:ext xmlns:a="http://schemas.openxmlformats.org/drawingml/2006/main" cx="6477000" cy="3333750"/>
        </p:xfrm>
        <a:graphic xmlns:a="http://schemas.openxmlformats.org/drawingml/2006/main">
          <a:graphicData uri="http://schemas.openxmlformats.org/drawingml/2006/chart">
            <c:chart xmlns:r="http://schemas.openxmlformats.org/officeDocument/2006/relationships" xmlns:c="http://schemas.openxmlformats.org/drawingml/2006/chart" r:id="Rffd86f0d1e194a3a"/>
          </a:graphicData>
        </a:graphic>
      </p:graphicFrame>
      <p:sp>
        <p:nvSpPr>
          <p:cNvPr id="5" name="">
            <a:extLst xmlns:a="http://schemas.openxmlformats.org/drawingml/2006/main">
              <a:ext uri="{FF2B5EF4-FFF2-40B4-BE49-F238E27FC236}">
                <a16:creationId xmlns:a16="http://schemas.microsoft.com/office/drawing/2014/main" id="{907280E7-F5B4-44E0-9B1B-0AE0634D5390}"/>
              </a:ext>
            </a:extLst>
          </p:cNvPr>
          <p:cNvSpPr>
            <a:spLocks xmlns:a="http://schemas.openxmlformats.org/drawingml/2006/main" noGrp="1"/>
          </p:cNvSpPr>
          <p:nvPr/>
        </p:nvSpPr>
        <p:spPr>
          <a:xfrm xmlns:a="http://schemas.openxmlformats.org/drawingml/2006/main">
            <a:off x="7762875" y="2686050"/>
            <a:ext cx="3571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527D70"/>
                </a:solidFill>
                <a:latin typeface="Nimbus Sans"/>
                <a:ea typeface="Nimbus Sans"/>
                <a:cs typeface="Nimbus Sans"/>
              </a:defRPr>
            </a:pPr>
            <a:r>
              <a:rPr sz="1800" b="1">
                <a:solidFill>
                  <a:srgbClr val="527D70"/>
                </a:solidFill>
                <a:latin typeface="Nimbus Sans"/>
                <a:ea typeface="Nimbus Sans"/>
                <a:cs typeface="Nimbus Sans"/>
              </a:rPr>
              <a:t>Central illustration</a:t>
            </a:r>
          </a:p>
        </p:txBody>
      </p:sp>
      <p:sp>
        <p:nvSpPr>
          <p:cNvPr id="6" name="">
            <a:extLst xmlns:a="http://schemas.openxmlformats.org/drawingml/2006/main">
              <a:ext uri="{FF2B5EF4-FFF2-40B4-BE49-F238E27FC236}">
                <a16:creationId xmlns:a16="http://schemas.microsoft.com/office/drawing/2014/main" id="{89346B28-DBFC-4633-832A-C660D932D0DA}"/>
              </a:ext>
            </a:extLst>
          </p:cNvPr>
          <p:cNvSpPr>
            <a:spLocks xmlns:a="http://schemas.openxmlformats.org/drawingml/2006/main" noGrp="1"/>
          </p:cNvSpPr>
          <p:nvPr/>
        </p:nvSpPr>
        <p:spPr>
          <a:xfrm xmlns:a="http://schemas.openxmlformats.org/drawingml/2006/main">
            <a:off x="7762875" y="3238500"/>
            <a:ext cx="3619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14191B"/>
                </a:solidFill>
                <a:latin typeface="Nimbus Sans"/>
                <a:ea typeface="Nimbus Sans"/>
                <a:cs typeface="Nimbus Sans"/>
              </a:defRPr>
            </a:pPr>
            <a:r>
              <a:rPr sz="2175" b="0">
                <a:solidFill>
                  <a:srgbClr val="14191B"/>
                </a:solidFill>
                <a:latin typeface="Nimbus Sans"/>
                <a:ea typeface="Nimbus Sans"/>
                <a:cs typeface="Nimbus Sans"/>
              </a:rPr>
              <a:t>15% task efficiency</a:t>
            </a:r>
          </a:p>
          <a:p xmlns:a="http://schemas.openxmlformats.org/drawingml/2006/main">
            <a:pPr>
              <a:defRPr sz="2175" b="0">
                <a:solidFill>
                  <a:srgbClr val="14191B"/>
                </a:solidFill>
                <a:latin typeface="Nimbus Sans"/>
                <a:ea typeface="Nimbus Sans"/>
                <a:cs typeface="Nimbus Sans"/>
              </a:defRPr>
            </a:pPr>
            <a:r>
              <a:rPr sz="2175" b="0">
                <a:solidFill>
                  <a:srgbClr val="14191B"/>
                </a:solidFill>
                <a:latin typeface="Nimbus Sans"/>
                <a:ea typeface="Nimbus Sans"/>
                <a:cs typeface="Nimbus Sans"/>
              </a:rPr>
              <a:t>60% realization</a:t>
            </a:r>
          </a:p>
          <a:p xmlns:a="http://schemas.openxmlformats.org/drawingml/2006/main">
            <a:pPr>
              <a:defRPr sz="2175" b="0">
                <a:solidFill>
                  <a:srgbClr val="14191B"/>
                </a:solidFill>
                <a:latin typeface="Nimbus Sans"/>
                <a:ea typeface="Nimbus Sans"/>
                <a:cs typeface="Nimbus Sans"/>
              </a:defRPr>
            </a:pPr>
            <a:r>
              <a:rPr sz="2175" b="0">
                <a:solidFill>
                  <a:srgbClr val="14191B"/>
                </a:solidFill>
                <a:latin typeface="Nimbus Sans"/>
                <a:ea typeface="Nimbus Sans"/>
                <a:cs typeface="Nimbus Sans"/>
              </a:rPr>
              <a:t>50% retained share</a:t>
            </a:r>
          </a:p>
        </p:txBody>
      </p:sp>
      <p:sp>
        <p:nvSpPr>
          <p:cNvPr id="7" name="">
            <a:extLst xmlns:a="http://schemas.openxmlformats.org/drawingml/2006/main">
              <a:ext uri="{FF2B5EF4-FFF2-40B4-BE49-F238E27FC236}">
                <a16:creationId xmlns:a16="http://schemas.microsoft.com/office/drawing/2014/main" id="{D44FC9B7-2B29-41BD-8FEE-9E87D0D92FC8}"/>
              </a:ext>
            </a:extLst>
          </p:cNvPr>
          <p:cNvSpPr>
            <a:spLocks xmlns:a="http://schemas.openxmlformats.org/drawingml/2006/main" noGrp="1"/>
          </p:cNvSpPr>
          <p:nvPr/>
        </p:nvSpPr>
        <p:spPr>
          <a:xfrm xmlns:a="http://schemas.openxmlformats.org/drawingml/2006/main">
            <a:off x="7762875" y="5000625"/>
            <a:ext cx="3619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a:solidFill>
                  <a:srgbClr val="14191B"/>
                </a:solidFill>
                <a:latin typeface="Nimbus Sans"/>
                <a:ea typeface="Nimbus Sans"/>
                <a:cs typeface="Nimbus Sans"/>
              </a:defRPr>
            </a:pPr>
            <a:r>
              <a:rPr sz="2250" b="1">
                <a:solidFill>
                  <a:srgbClr val="14191B"/>
                </a:solidFill>
                <a:latin typeface="Nimbus Sans"/>
                <a:ea typeface="Nimbus Sans"/>
                <a:cs typeface="Nimbus Sans"/>
              </a:rPr>
              <a:t>4% profit increase</a:t>
            </a:r>
          </a:p>
          <a:p xmlns:a="http://schemas.openxmlformats.org/drawingml/2006/main">
            <a:pPr>
              <a:defRPr sz="2250" b="1">
                <a:solidFill>
                  <a:srgbClr val="14191B"/>
                </a:solidFill>
                <a:latin typeface="Nimbus Sans"/>
                <a:ea typeface="Nimbus Sans"/>
                <a:cs typeface="Nimbus Sans"/>
              </a:defRPr>
            </a:pPr>
            <a:r>
              <a:rPr sz="2250" b="1">
                <a:solidFill>
                  <a:srgbClr val="14191B"/>
                </a:solidFill>
                <a:latin typeface="Nimbus Sans"/>
                <a:ea typeface="Nimbus Sans"/>
                <a:cs typeface="Nimbus Sans"/>
              </a:rPr>
              <a:t>after recurring AI cost</a:t>
            </a:r>
          </a:p>
        </p:txBody>
      </p:sp>
      <p:sp>
        <p:nvSpPr>
          <p:cNvPr id="8" name="">
            <a:extLst xmlns:a="http://schemas.openxmlformats.org/drawingml/2006/main">
              <a:ext uri="{FF2B5EF4-FFF2-40B4-BE49-F238E27FC236}">
                <a16:creationId xmlns:a16="http://schemas.microsoft.com/office/drawing/2014/main" id="{33D9C461-5A09-4925-9451-A2A7009A63D1}"/>
              </a:ext>
            </a:extLst>
          </p:cNvPr>
          <p:cNvSpPr>
            <a:spLocks xmlns:a="http://schemas.openxmlformats.org/drawingml/2006/main" noGrp="1"/>
          </p:cNvSpPr>
          <p:nvPr/>
        </p:nvSpPr>
        <p:spPr>
          <a:xfrm xmlns:a="http://schemas.openxmlformats.org/drawingml/2006/main">
            <a:off x="704850" y="60007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626A6B"/>
                </a:solidFill>
                <a:latin typeface="Nimbus Sans"/>
                <a:ea typeface="Nimbus Sans"/>
                <a:cs typeface="Nimbus Sans"/>
              </a:defRPr>
            </a:pPr>
            <a:r>
              <a:rPr sz="1500" b="0">
                <a:solidFill>
                  <a:srgbClr val="626A6B"/>
                </a:solidFill>
                <a:latin typeface="Nimbus Sans"/>
                <a:ea typeface="Nimbus Sans"/>
                <a:cs typeface="Nimbus Sans"/>
              </a:rPr>
              <a:t>Assumptions: revenue 100, eligible cost 40, recurring AI expense 1.</a:t>
            </a:r>
          </a:p>
        </p:txBody>
      </p:sp>
    </p:spTree>
    <p:extLst>
      <p:ext uri="{BB962C8B-B14F-4D97-AF65-F5344CB8AC3E}">
        <p14:creationId xmlns:p14="http://schemas.microsoft.com/office/powerpoint/2010/main" val="1371773487"/>
      </p:ext>
    </p:extLst>
  </p:cSld>
</p:sld>
</file>

<file path=ppt/slides/slide9.xml><?xml version="1.0" encoding="utf-8"?>
<p:sld xmlns:p="http://schemas.openxmlformats.org/presentationml/2006/main">
  <p:cSld>
    <p:bg>
      <p:bgPr>
        <a:solidFill xmlns:a="http://schemas.openxmlformats.org/drawingml/2006/main">
          <a:srgbClr val="F3F0E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1C4C77A-AE77-47FD-AD9F-FDF591BD5CA6}"/>
              </a:ext>
            </a:extLst>
          </p:cNvPr>
          <p:cNvSpPr>
            <a:spLocks xmlns:a="http://schemas.openxmlformats.org/drawingml/2006/main" noGrp="1"/>
          </p:cNvSpPr>
          <p:nvPr/>
        </p:nvSpPr>
        <p:spPr>
          <a:xfrm xmlns:a="http://schemas.openxmlformats.org/drawingml/2006/main">
            <a:off x="666750" y="552450"/>
            <a:ext cx="107632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525" b="1">
                <a:solidFill>
                  <a:srgbClr val="14191B"/>
                </a:solidFill>
                <a:latin typeface="Nimbus Sans"/>
                <a:ea typeface="Nimbus Sans"/>
                <a:cs typeface="Nimbus Sans"/>
              </a:defRPr>
            </a:pPr>
            <a:r>
              <a:rPr sz="3525" b="1">
                <a:solidFill>
                  <a:srgbClr val="14191B"/>
                </a:solidFill>
                <a:latin typeface="Nimbus Sans"/>
                <a:ea typeface="Nimbus Sans"/>
                <a:cs typeface="Nimbus Sans"/>
              </a:rPr>
              <a:t>The contract determines</a:t>
            </a:r>
          </a:p>
          <a:p xmlns:a="http://schemas.openxmlformats.org/drawingml/2006/main">
            <a:pPr>
              <a:defRPr sz="3525" b="1">
                <a:solidFill>
                  <a:srgbClr val="14191B"/>
                </a:solidFill>
                <a:latin typeface="Nimbus Sans"/>
                <a:ea typeface="Nimbus Sans"/>
                <a:cs typeface="Nimbus Sans"/>
              </a:defRPr>
            </a:pPr>
            <a:r>
              <a:rPr sz="3525" b="1">
                <a:solidFill>
                  <a:srgbClr val="14191B"/>
                </a:solidFill>
                <a:latin typeface="Nimbus Sans"/>
                <a:ea typeface="Nimbus Sans"/>
                <a:cs typeface="Nimbus Sans"/>
              </a:rPr>
              <a:t>who keeps the gain</a:t>
            </a:r>
          </a:p>
        </p:txBody>
      </p:sp>
      <p:sp>
        <p:nvSpPr>
          <p:cNvPr id="2" name="">
            <a:extLst xmlns:a="http://schemas.openxmlformats.org/drawingml/2006/main">
              <a:ext uri="{FF2B5EF4-FFF2-40B4-BE49-F238E27FC236}">
                <a16:creationId xmlns:a16="http://schemas.microsoft.com/office/drawing/2014/main" id="{D062DC5D-E991-4DE8-AC6A-0B237EDE6B21}"/>
              </a:ext>
            </a:extLst>
          </p:cNvPr>
          <p:cNvSpPr>
            <a:spLocks xmlns:a="http://schemas.openxmlformats.org/drawingml/2006/main" noGrp="1"/>
          </p:cNvSpPr>
          <p:nvPr/>
        </p:nvSpPr>
        <p:spPr>
          <a:xfrm xmlns:a="http://schemas.openxmlformats.org/drawingml/2006/main">
            <a:off x="685800" y="1619250"/>
            <a:ext cx="10572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626A6B"/>
                </a:solidFill>
                <a:latin typeface="Nimbus Sans"/>
                <a:ea typeface="Nimbus Sans"/>
                <a:cs typeface="Nimbus Sans"/>
              </a:defRPr>
            </a:pPr>
            <a:r>
              <a:rPr sz="1875" b="0">
                <a:solidFill>
                  <a:srgbClr val="626A6B"/>
                </a:solidFill>
                <a:latin typeface="Nimbus Sans"/>
                <a:ea typeface="Nimbus Sans"/>
                <a:cs typeface="Nimbus Sans"/>
              </a:rPr>
              <a:t>A stronger operating result becomes an investment advantage only when value stays with the business.</a:t>
            </a:r>
          </a:p>
        </p:txBody>
      </p:sp>
      <p:sp>
        <p:nvSpPr>
          <p:cNvPr id="3" name="">
            <a:extLst xmlns:a="http://schemas.openxmlformats.org/drawingml/2006/main">
              <a:ext uri="{FF2B5EF4-FFF2-40B4-BE49-F238E27FC236}">
                <a16:creationId xmlns:a16="http://schemas.microsoft.com/office/drawing/2014/main" id="{3081E223-8CF0-463B-AFE8-11DC72D684EA}"/>
              </a:ext>
            </a:extLst>
          </p:cNvPr>
          <p:cNvSpPr>
            <a:spLocks xmlns:a="http://schemas.openxmlformats.org/drawingml/2006/main" noGrp="1"/>
          </p:cNvSpPr>
          <p:nvPr/>
        </p:nvSpPr>
        <p:spPr>
          <a:xfrm xmlns:a="http://schemas.openxmlformats.org/drawingml/2006/main">
            <a:off x="11191875" y="6334125"/>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626A6B"/>
                </a:solidFill>
                <a:latin typeface="Nimbus Sans"/>
                <a:ea typeface="Nimbus Sans"/>
                <a:cs typeface="Nimbus Sans"/>
              </a:defRPr>
            </a:pPr>
            <a:r>
              <a:rPr sz="1275" b="0">
                <a:solidFill>
                  <a:srgbClr val="626A6B"/>
                </a:solidFill>
                <a:latin typeface="Nimbus Sans"/>
                <a:ea typeface="Nimbus Sans"/>
                <a:cs typeface="Nimbus Sans"/>
              </a:rPr>
              <a:t>09</a:t>
            </a:r>
          </a:p>
        </p:txBody>
      </p:sp>
      <p:graphicFrame>
        <p:nvGraphicFramePr>
          <p:cNvPr id="8" name=""/>
          <p:cNvGraphicFramePr/>
          <p:nvPr/>
        </p:nvGraphicFramePr>
        <p:xfrm>
          <a:off xmlns:a="http://schemas.openxmlformats.org/drawingml/2006/main" x="685800" y="2514600"/>
          <a:ext xmlns:a="http://schemas.openxmlformats.org/drawingml/2006/main" cx="10820400" cy="3257550"/>
        </p:xfrm>
        <a:graphic xmlns:a="http://schemas.openxmlformats.org/drawingml/2006/main">
          <a:graphicData uri="http://schemas.openxmlformats.org/drawingml/2006/table">
            <a:tbl>
              <a:tblPr firstRow="0" bandRow="0"/>
              <a:tblGrid>
                <a:gridCol w="2714625"/>
                <a:gridCol w="4076700"/>
                <a:gridCol w="4029075"/>
              </a:tblGrid>
              <a:tr h="476250">
                <a:tc>
                  <a:txBody>
                    <a:bodyPr/>
                    <a:lstStyle/>
                    <a:p>
                      <a:r>
                        <a:rPr sz="1500" b="1">
                          <a:solidFill>
                            <a:srgbClr val="FCFBF7"/>
                          </a:solidFill>
                          <a:latin typeface="Nimbus Sans"/>
                          <a:ea typeface="Nimbus Sans"/>
                          <a:cs typeface="Nimbus Sans"/>
                        </a:rPr>
                        <a:t>Business model</a:t>
                      </a:r>
                    </a:p>
                  </a:txBody>
                  <a:tcPr marL="91440" marR="91440" marT="45720" marB="45720">
                    <a:solidFill>
                      <a:srgbClr val="14191B"/>
                    </a:solidFill>
                  </a:tcPr>
                </a:tc>
                <a:tc>
                  <a:txBody>
                    <a:bodyPr/>
                    <a:lstStyle/>
                    <a:p>
                      <a:r>
                        <a:rPr sz="1500" b="1">
                          <a:solidFill>
                            <a:srgbClr val="FCFBF7"/>
                          </a:solidFill>
                          <a:latin typeface="Nimbus Sans"/>
                          <a:ea typeface="Nimbus Sans"/>
                          <a:cs typeface="Nimbus Sans"/>
                        </a:rPr>
                        <a:t>Potential retention</a:t>
                      </a:r>
                    </a:p>
                  </a:txBody>
                  <a:tcPr marL="91440" marR="91440" marT="45720" marB="45720">
                    <a:solidFill>
                      <a:srgbClr val="14191B"/>
                    </a:solidFill>
                  </a:tcPr>
                </a:tc>
                <a:tc>
                  <a:txBody>
                    <a:bodyPr/>
                    <a:lstStyle/>
                    <a:p>
                      <a:r>
                        <a:rPr sz="1500" b="1">
                          <a:solidFill>
                            <a:srgbClr val="FCFBF7"/>
                          </a:solidFill>
                          <a:latin typeface="Nimbus Sans"/>
                          <a:ea typeface="Nimbus Sans"/>
                          <a:cs typeface="Nimbus Sans"/>
                        </a:rPr>
                        <a:t>Main leakage</a:t>
                      </a:r>
                    </a:p>
                  </a:txBody>
                  <a:tcPr marL="91440" marR="91440" marT="45720" marB="45720">
                    <a:solidFill>
                      <a:srgbClr val="14191B"/>
                    </a:solidFill>
                  </a:tcPr>
                </a:tc>
              </a:tr>
              <a:tr h="556260">
                <a:tc>
                  <a:txBody>
                    <a:bodyPr/>
                    <a:lstStyle/>
                    <a:p>
                      <a:r>
                        <a:rPr sz="1725" b="0">
                          <a:solidFill>
                            <a:srgbClr val="14191B"/>
                          </a:solidFill>
                          <a:latin typeface="Nimbus Sans"/>
                          <a:ea typeface="Nimbus Sans"/>
                          <a:cs typeface="Nimbus Sans"/>
                        </a:rPr>
                        <a:t>Professional software</a:t>
                      </a:r>
                    </a:p>
                  </a:txBody>
                  <a:tcPr marL="91440" marR="91440" marT="45720" marB="45720">
                    <a:solidFill>
                      <a:srgbClr val="F3F0E8"/>
                    </a:solidFill>
                  </a:tcPr>
                </a:tc>
                <a:tc>
                  <a:txBody>
                    <a:bodyPr/>
                    <a:lstStyle/>
                    <a:p>
                      <a:r>
                        <a:rPr sz="1725" b="0">
                          <a:solidFill>
                            <a:srgbClr val="14191B"/>
                          </a:solidFill>
                          <a:latin typeface="Nimbus Sans"/>
                          <a:ea typeface="Nimbus Sans"/>
                          <a:cs typeface="Nimbus Sans"/>
                        </a:rPr>
                        <a:t>Paid workflows and renewal</a:t>
                      </a:r>
                    </a:p>
                  </a:txBody>
                  <a:tcPr marL="91440" marR="91440" marT="45720" marB="45720">
                    <a:solidFill>
                      <a:srgbClr val="F3F0E8"/>
                    </a:solidFill>
                  </a:tcPr>
                </a:tc>
                <a:tc>
                  <a:txBody>
                    <a:bodyPr/>
                    <a:lstStyle/>
                    <a:p>
                      <a:r>
                        <a:rPr sz="1725" b="0">
                          <a:solidFill>
                            <a:srgbClr val="14191B"/>
                          </a:solidFill>
                          <a:latin typeface="Nimbus Sans"/>
                          <a:ea typeface="Nimbus Sans"/>
                          <a:cs typeface="Nimbus Sans"/>
                        </a:rPr>
                        <a:t>Seat loss and model costs</a:t>
                      </a:r>
                    </a:p>
                  </a:txBody>
                  <a:tcPr marL="91440" marR="91440" marT="45720" marB="45720">
                    <a:solidFill>
                      <a:srgbClr val="F3F0E8"/>
                    </a:solidFill>
                  </a:tcPr>
                </a:tc>
              </a:tr>
              <a:tr h="556260">
                <a:tc>
                  <a:txBody>
                    <a:bodyPr/>
                    <a:lstStyle/>
                    <a:p>
                      <a:r>
                        <a:rPr sz="1725" b="0">
                          <a:solidFill>
                            <a:srgbClr val="14191B"/>
                          </a:solidFill>
                          <a:latin typeface="Nimbus Sans"/>
                          <a:ea typeface="Nimbus Sans"/>
                          <a:cs typeface="Nimbus Sans"/>
                        </a:rPr>
                        <a:t>Insurance</a:t>
                      </a:r>
                    </a:p>
                  </a:txBody>
                  <a:tcPr marL="91440" marR="91440" marT="45720" marB="45720">
                    <a:solidFill>
                      <a:srgbClr val="F3F0E8"/>
                    </a:solidFill>
                  </a:tcPr>
                </a:tc>
                <a:tc>
                  <a:txBody>
                    <a:bodyPr/>
                    <a:lstStyle/>
                    <a:p>
                      <a:r>
                        <a:rPr sz="1725" b="0">
                          <a:solidFill>
                            <a:srgbClr val="14191B"/>
                          </a:solidFill>
                          <a:latin typeface="Nimbus Sans"/>
                          <a:ea typeface="Nimbus Sans"/>
                          <a:cs typeface="Nimbus Sans"/>
                        </a:rPr>
                        <a:t>Risk selection and lower expenses</a:t>
                      </a:r>
                    </a:p>
                  </a:txBody>
                  <a:tcPr marL="91440" marR="91440" marT="45720" marB="45720">
                    <a:solidFill>
                      <a:srgbClr val="F3F0E8"/>
                    </a:solidFill>
                  </a:tcPr>
                </a:tc>
                <a:tc>
                  <a:txBody>
                    <a:bodyPr/>
                    <a:lstStyle/>
                    <a:p>
                      <a:r>
                        <a:rPr sz="1725" b="0">
                          <a:solidFill>
                            <a:srgbClr val="14191B"/>
                          </a:solidFill>
                          <a:latin typeface="Nimbus Sans"/>
                          <a:ea typeface="Nimbus Sans"/>
                          <a:cs typeface="Nimbus Sans"/>
                        </a:rPr>
                        <a:t>Renewal pricing and reserves</a:t>
                      </a:r>
                    </a:p>
                  </a:txBody>
                  <a:tcPr marL="91440" marR="91440" marT="45720" marB="45720">
                    <a:solidFill>
                      <a:srgbClr val="F3F0E8"/>
                    </a:solidFill>
                  </a:tcPr>
                </a:tc>
              </a:tr>
              <a:tr h="556260">
                <a:tc>
                  <a:txBody>
                    <a:bodyPr/>
                    <a:lstStyle/>
                    <a:p>
                      <a:r>
                        <a:rPr sz="1725" b="0">
                          <a:solidFill>
                            <a:srgbClr val="14191B"/>
                          </a:solidFill>
                          <a:latin typeface="Nimbus Sans"/>
                          <a:ea typeface="Nimbus Sans"/>
                          <a:cs typeface="Nimbus Sans"/>
                        </a:rPr>
                        <a:t>Industrial services</a:t>
                      </a:r>
                    </a:p>
                  </a:txBody>
                  <a:tcPr marL="91440" marR="91440" marT="45720" marB="45720">
                    <a:solidFill>
                      <a:srgbClr val="F3F0E8"/>
                    </a:solidFill>
                  </a:tcPr>
                </a:tc>
                <a:tc>
                  <a:txBody>
                    <a:bodyPr/>
                    <a:lstStyle/>
                    <a:p>
                      <a:r>
                        <a:rPr sz="1725" b="0">
                          <a:solidFill>
                            <a:srgbClr val="14191B"/>
                          </a:solidFill>
                          <a:latin typeface="Nimbus Sans"/>
                          <a:ea typeface="Nimbus Sans"/>
                          <a:cs typeface="Nimbus Sans"/>
                        </a:rPr>
                        <a:t>Availability and service contracts</a:t>
                      </a:r>
                    </a:p>
                  </a:txBody>
                  <a:tcPr marL="91440" marR="91440" marT="45720" marB="45720">
                    <a:solidFill>
                      <a:srgbClr val="F3F0E8"/>
                    </a:solidFill>
                  </a:tcPr>
                </a:tc>
                <a:tc>
                  <a:txBody>
                    <a:bodyPr/>
                    <a:lstStyle/>
                    <a:p>
                      <a:r>
                        <a:rPr sz="1725" b="0">
                          <a:solidFill>
                            <a:srgbClr val="14191B"/>
                          </a:solidFill>
                          <a:latin typeface="Nimbus Sans"/>
                          <a:ea typeface="Nimbus Sans"/>
                          <a:cs typeface="Nimbus Sans"/>
                        </a:rPr>
                        <a:t>Customer-owned data and capex</a:t>
                      </a:r>
                    </a:p>
                  </a:txBody>
                  <a:tcPr marL="91440" marR="91440" marT="45720" marB="45720">
                    <a:solidFill>
                      <a:srgbClr val="F3F0E8"/>
                    </a:solidFill>
                  </a:tcPr>
                </a:tc>
              </a:tr>
              <a:tr h="556260">
                <a:tc>
                  <a:txBody>
                    <a:bodyPr/>
                    <a:lstStyle/>
                    <a:p>
                      <a:r>
                        <a:rPr sz="1725" b="0">
                          <a:solidFill>
                            <a:srgbClr val="14191B"/>
                          </a:solidFill>
                          <a:latin typeface="Nimbus Sans"/>
                          <a:ea typeface="Nimbus Sans"/>
                          <a:cs typeface="Nimbus Sans"/>
                        </a:rPr>
                        <a:t>Regulated utilities</a:t>
                      </a:r>
                    </a:p>
                  </a:txBody>
                  <a:tcPr marL="91440" marR="91440" marT="45720" marB="45720">
                    <a:solidFill>
                      <a:srgbClr val="F3F0E8"/>
                    </a:solidFill>
                  </a:tcPr>
                </a:tc>
                <a:tc>
                  <a:txBody>
                    <a:bodyPr/>
                    <a:lstStyle/>
                    <a:p>
                      <a:r>
                        <a:rPr sz="1725" b="0">
                          <a:solidFill>
                            <a:srgbClr val="14191B"/>
                          </a:solidFill>
                          <a:latin typeface="Nimbus Sans"/>
                          <a:ea typeface="Nimbus Sans"/>
                          <a:cs typeface="Nimbus Sans"/>
                        </a:rPr>
                        <a:t>Incentive sharing where allowed</a:t>
                      </a:r>
                    </a:p>
                  </a:txBody>
                  <a:tcPr marL="91440" marR="91440" marT="45720" marB="45720">
                    <a:solidFill>
                      <a:srgbClr val="F3F0E8"/>
                    </a:solidFill>
                  </a:tcPr>
                </a:tc>
                <a:tc>
                  <a:txBody>
                    <a:bodyPr/>
                    <a:lstStyle/>
                    <a:p>
                      <a:r>
                        <a:rPr sz="1725" b="0">
                          <a:solidFill>
                            <a:srgbClr val="14191B"/>
                          </a:solidFill>
                          <a:latin typeface="Nimbus Sans"/>
                          <a:ea typeface="Nimbus Sans"/>
                          <a:cs typeface="Nimbus Sans"/>
                        </a:rPr>
                        <a:t>Rate resets and required investment</a:t>
                      </a:r>
                    </a:p>
                  </a:txBody>
                  <a:tcPr marL="91440" marR="91440" marT="45720" marB="45720">
                    <a:solidFill>
                      <a:srgbClr val="F3F0E8"/>
                    </a:solidFill>
                  </a:tcPr>
                </a:tc>
              </a:tr>
              <a:tr h="556260">
                <a:tc>
                  <a:txBody>
                    <a:bodyPr/>
                    <a:lstStyle/>
                    <a:p>
                      <a:r>
                        <a:rPr sz="1725" b="0">
                          <a:solidFill>
                            <a:srgbClr val="14191B"/>
                          </a:solidFill>
                          <a:latin typeface="Nimbus Sans"/>
                          <a:ea typeface="Nimbus Sans"/>
                          <a:cs typeface="Nimbus Sans"/>
                        </a:rPr>
                        <a:t>Hourly IT services</a:t>
                      </a:r>
                    </a:p>
                  </a:txBody>
                  <a:tcPr marL="91440" marR="91440" marT="45720" marB="45720">
                    <a:solidFill>
                      <a:srgbClr val="F3F0E8"/>
                    </a:solidFill>
                  </a:tcPr>
                </a:tc>
                <a:tc>
                  <a:txBody>
                    <a:bodyPr/>
                    <a:lstStyle/>
                    <a:p>
                      <a:r>
                        <a:rPr sz="1725" b="0">
                          <a:solidFill>
                            <a:srgbClr val="14191B"/>
                          </a:solidFill>
                          <a:latin typeface="Nimbus Sans"/>
                          <a:ea typeface="Nimbus Sans"/>
                          <a:cs typeface="Nimbus Sans"/>
                        </a:rPr>
                        <a:t>More projects or outcome pricing</a:t>
                      </a:r>
                    </a:p>
                  </a:txBody>
                  <a:tcPr marL="91440" marR="91440" marT="45720" marB="45720">
                    <a:solidFill>
                      <a:srgbClr val="F3F0E8"/>
                    </a:solidFill>
                  </a:tcPr>
                </a:tc>
                <a:tc>
                  <a:txBody>
                    <a:bodyPr/>
                    <a:lstStyle/>
                    <a:p>
                      <a:r>
                        <a:rPr sz="1725" b="0">
                          <a:solidFill>
                            <a:srgbClr val="14191B"/>
                          </a:solidFill>
                          <a:latin typeface="Nimbus Sans"/>
                          <a:ea typeface="Nimbus Sans"/>
                          <a:cs typeface="Nimbus Sans"/>
                        </a:rPr>
                        <a:t>Fewer billable hours</a:t>
                      </a:r>
                    </a:p>
                  </a:txBody>
                  <a:tcPr marL="91440" marR="91440" marT="45720" marB="45720">
                    <a:solidFill>
                      <a:srgbClr val="F3F0E8"/>
                    </a:solidFill>
                  </a:tcPr>
                </a:tc>
              </a:tr>
            </a:tbl>
          </a:graphicData>
        </a:graphic>
      </p:graphicFrame>
    </p:spTree>
    <p:extLst>
      <p:ext uri="{BB962C8B-B14F-4D97-AF65-F5344CB8AC3E}">
        <p14:creationId xmlns:p14="http://schemas.microsoft.com/office/powerpoint/2010/main" val="1484974944"/>
      </p:ext>
    </p:extLst>
  </p:cSld>
</p:sld>
</file>

<file path=ppt/slides/slide10.xml><?xml version="1.0" encoding="utf-8"?>
<p:sld xmlns:p="http://schemas.openxmlformats.org/presentationml/2006/main">
  <p:cSld>
    <p:bg>
      <p:bgPr>
        <a:solidFill xmlns:a="http://schemas.openxmlformats.org/drawingml/2006/main">
          <a:srgbClr val="14191B"/>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A555BAC-29CD-4398-A589-1707A263B9EF}"/>
              </a:ext>
            </a:extLst>
          </p:cNvPr>
          <p:cNvSpPr>
            <a:spLocks xmlns:a="http://schemas.openxmlformats.org/drawingml/2006/main" noGrp="1"/>
          </p:cNvSpPr>
          <p:nvPr/>
        </p:nvSpPr>
        <p:spPr>
          <a:xfrm xmlns:a="http://schemas.openxmlformats.org/drawingml/2006/main">
            <a:off x="666750" y="552450"/>
            <a:ext cx="107632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525" b="1">
                <a:solidFill>
                  <a:srgbClr val="FCFBF7"/>
                </a:solidFill>
                <a:latin typeface="Nimbus Sans"/>
                <a:ea typeface="Nimbus Sans"/>
                <a:cs typeface="Nimbus Sans"/>
              </a:defRPr>
            </a:pPr>
            <a:r>
              <a:rPr sz="3525" b="1">
                <a:solidFill>
                  <a:srgbClr val="FCFBF7"/>
                </a:solidFill>
                <a:latin typeface="Nimbus Sans"/>
                <a:ea typeface="Nimbus Sans"/>
                <a:cs typeface="Nimbus Sans"/>
              </a:rPr>
              <a:t>A global universe built</a:t>
            </a:r>
          </a:p>
          <a:p xmlns:a="http://schemas.openxmlformats.org/drawingml/2006/main">
            <a:pPr>
              <a:defRPr sz="3525" b="1">
                <a:solidFill>
                  <a:srgbClr val="FCFBF7"/>
                </a:solidFill>
                <a:latin typeface="Nimbus Sans"/>
                <a:ea typeface="Nimbus Sans"/>
                <a:cs typeface="Nimbus Sans"/>
              </a:defRPr>
            </a:pPr>
            <a:r>
              <a:rPr sz="3525" b="1">
                <a:solidFill>
                  <a:srgbClr val="FCFBF7"/>
                </a:solidFill>
                <a:latin typeface="Nimbus Sans"/>
                <a:ea typeface="Nimbus Sans"/>
                <a:cs typeface="Nimbus Sans"/>
              </a:rPr>
              <a:t>from explicit industry theses</a:t>
            </a:r>
          </a:p>
        </p:txBody>
      </p:sp>
      <p:sp>
        <p:nvSpPr>
          <p:cNvPr id="2" name="">
            <a:extLst xmlns:a="http://schemas.openxmlformats.org/drawingml/2006/main">
              <a:ext uri="{FF2B5EF4-FFF2-40B4-BE49-F238E27FC236}">
                <a16:creationId xmlns:a16="http://schemas.microsoft.com/office/drawing/2014/main" id="{13B94F1A-3BF0-4E06-9C35-C037AD8C7C0D}"/>
              </a:ext>
            </a:extLst>
          </p:cNvPr>
          <p:cNvSpPr>
            <a:spLocks xmlns:a="http://schemas.openxmlformats.org/drawingml/2006/main" noGrp="1"/>
          </p:cNvSpPr>
          <p:nvPr/>
        </p:nvSpPr>
        <p:spPr>
          <a:xfrm xmlns:a="http://schemas.openxmlformats.org/drawingml/2006/main">
            <a:off x="11191875" y="6334125"/>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B9C0BE"/>
                </a:solidFill>
                <a:latin typeface="Nimbus Sans"/>
                <a:ea typeface="Nimbus Sans"/>
                <a:cs typeface="Nimbus Sans"/>
              </a:defRPr>
            </a:pPr>
            <a:r>
              <a:rPr sz="1275" b="0">
                <a:solidFill>
                  <a:srgbClr val="B9C0BE"/>
                </a:solidFill>
                <a:latin typeface="Nimbus Sans"/>
                <a:ea typeface="Nimbus Sans"/>
                <a:cs typeface="Nimbus Sans"/>
              </a:rPr>
              <a:t>10</a:t>
            </a:r>
          </a:p>
        </p:txBody>
      </p:sp>
      <p:sp>
        <p:nvSpPr>
          <p:cNvPr id="3" name="">
            <a:extLst xmlns:a="http://schemas.openxmlformats.org/drawingml/2006/main">
              <a:ext uri="{FF2B5EF4-FFF2-40B4-BE49-F238E27FC236}">
                <a16:creationId xmlns:a16="http://schemas.microsoft.com/office/drawing/2014/main" id="{7D5D0E7D-6D59-4662-BA46-539A2FF0A40F}"/>
              </a:ext>
            </a:extLst>
          </p:cNvPr>
          <p:cNvSpPr>
            <a:spLocks xmlns:a="http://schemas.openxmlformats.org/drawingml/2006/main" noGrp="1"/>
          </p:cNvSpPr>
          <p:nvPr/>
        </p:nvSpPr>
        <p:spPr>
          <a:xfrm xmlns:a="http://schemas.openxmlformats.org/drawingml/2006/main">
            <a:off x="704850" y="2381250"/>
            <a:ext cx="40957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8625" b="1">
                <a:solidFill>
                  <a:srgbClr val="FCFBF7"/>
                </a:solidFill>
                <a:latin typeface="Nimbus Sans"/>
                <a:ea typeface="Nimbus Sans"/>
                <a:cs typeface="Nimbus Sans"/>
              </a:defRPr>
            </a:pPr>
            <a:r>
              <a:rPr sz="8625" b="1">
                <a:solidFill>
                  <a:srgbClr val="FCFBF7"/>
                </a:solidFill>
                <a:latin typeface="Nimbus Sans"/>
                <a:ea typeface="Nimbus Sans"/>
                <a:cs typeface="Nimbus Sans"/>
              </a:rPr>
              <a:t>100</a:t>
            </a:r>
          </a:p>
        </p:txBody>
      </p:sp>
      <p:sp>
        <p:nvSpPr>
          <p:cNvPr id="4" name="">
            <a:extLst xmlns:a="http://schemas.openxmlformats.org/drawingml/2006/main">
              <a:ext uri="{FF2B5EF4-FFF2-40B4-BE49-F238E27FC236}">
                <a16:creationId xmlns:a16="http://schemas.microsoft.com/office/drawing/2014/main" id="{1B6825A9-511F-4259-97D2-5FBAAD0B40AF}"/>
              </a:ext>
            </a:extLst>
          </p:cNvPr>
          <p:cNvSpPr>
            <a:spLocks xmlns:a="http://schemas.openxmlformats.org/drawingml/2006/main" noGrp="1"/>
          </p:cNvSpPr>
          <p:nvPr/>
        </p:nvSpPr>
        <p:spPr>
          <a:xfrm xmlns:a="http://schemas.openxmlformats.org/drawingml/2006/main">
            <a:off x="742950" y="3905250"/>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B9C0BE"/>
                </a:solidFill>
                <a:latin typeface="Nimbus Sans"/>
                <a:ea typeface="Nimbus Sans"/>
                <a:cs typeface="Nimbus Sans"/>
              </a:defRPr>
            </a:pPr>
            <a:r>
              <a:rPr sz="2250" b="0">
                <a:solidFill>
                  <a:srgbClr val="B9C0BE"/>
                </a:solidFill>
                <a:latin typeface="Nimbus Sans"/>
                <a:ea typeface="Nimbus Sans"/>
                <a:cs typeface="Nimbus Sans"/>
              </a:rPr>
              <a:t>company candidates</a:t>
            </a:r>
          </a:p>
        </p:txBody>
      </p:sp>
      <p:sp>
        <p:nvSpPr>
          <p:cNvPr id="5" name="">
            <a:extLst xmlns:a="http://schemas.openxmlformats.org/drawingml/2006/main">
              <a:ext uri="{FF2B5EF4-FFF2-40B4-BE49-F238E27FC236}">
                <a16:creationId xmlns:a16="http://schemas.microsoft.com/office/drawing/2014/main" id="{0811CF66-05C8-42E2-A6B3-C66117234998}"/>
              </a:ext>
            </a:extLst>
          </p:cNvPr>
          <p:cNvSpPr>
            <a:spLocks xmlns:a="http://schemas.openxmlformats.org/drawingml/2006/main" noGrp="1"/>
          </p:cNvSpPr>
          <p:nvPr/>
        </p:nvSpPr>
        <p:spPr>
          <a:xfrm xmlns:a="http://schemas.openxmlformats.org/drawingml/2006/main">
            <a:off x="5695950" y="2381250"/>
            <a:ext cx="22860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8625" b="1">
                <a:solidFill>
                  <a:srgbClr val="C6A66A"/>
                </a:solidFill>
                <a:latin typeface="Nimbus Sans"/>
                <a:ea typeface="Nimbus Sans"/>
                <a:cs typeface="Nimbus Sans"/>
              </a:defRPr>
            </a:pPr>
            <a:r>
              <a:rPr sz="8625" b="1">
                <a:solidFill>
                  <a:srgbClr val="C6A66A"/>
                </a:solidFill>
                <a:latin typeface="Nimbus Sans"/>
                <a:ea typeface="Nimbus Sans"/>
                <a:cs typeface="Nimbus Sans"/>
              </a:rPr>
              <a:t>36</a:t>
            </a:r>
          </a:p>
        </p:txBody>
      </p:sp>
      <p:sp>
        <p:nvSpPr>
          <p:cNvPr id="6" name="">
            <a:extLst xmlns:a="http://schemas.openxmlformats.org/drawingml/2006/main">
              <a:ext uri="{FF2B5EF4-FFF2-40B4-BE49-F238E27FC236}">
                <a16:creationId xmlns:a16="http://schemas.microsoft.com/office/drawing/2014/main" id="{6C5D8F19-C6EA-4ADE-9C21-FF8EB6C3F2F4}"/>
              </a:ext>
            </a:extLst>
          </p:cNvPr>
          <p:cNvSpPr>
            <a:spLocks xmlns:a="http://schemas.openxmlformats.org/drawingml/2006/main" noGrp="1"/>
          </p:cNvSpPr>
          <p:nvPr/>
        </p:nvSpPr>
        <p:spPr>
          <a:xfrm xmlns:a="http://schemas.openxmlformats.org/drawingml/2006/main">
            <a:off x="5734050" y="3905250"/>
            <a:ext cx="276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B9C0BE"/>
                </a:solidFill>
                <a:latin typeface="Nimbus Sans"/>
                <a:ea typeface="Nimbus Sans"/>
                <a:cs typeface="Nimbus Sans"/>
              </a:defRPr>
            </a:pPr>
            <a:r>
              <a:rPr sz="2250" b="0">
                <a:solidFill>
                  <a:srgbClr val="B9C0BE"/>
                </a:solidFill>
                <a:latin typeface="Nimbus Sans"/>
                <a:ea typeface="Nimbus Sans"/>
                <a:cs typeface="Nimbus Sans"/>
              </a:rPr>
              <a:t>research areas</a:t>
            </a:r>
          </a:p>
        </p:txBody>
      </p:sp>
      <p:sp>
        <p:nvSpPr>
          <p:cNvPr id="7" name="">
            <a:extLst xmlns:a="http://schemas.openxmlformats.org/drawingml/2006/main">
              <a:ext uri="{FF2B5EF4-FFF2-40B4-BE49-F238E27FC236}">
                <a16:creationId xmlns:a16="http://schemas.microsoft.com/office/drawing/2014/main" id="{D742233B-4EE9-42CE-B5B4-E5B577E5DF2F}"/>
              </a:ext>
            </a:extLst>
          </p:cNvPr>
          <p:cNvSpPr>
            <a:spLocks xmlns:a="http://schemas.openxmlformats.org/drawingml/2006/main" noGrp="1"/>
          </p:cNvSpPr>
          <p:nvPr/>
        </p:nvSpPr>
        <p:spPr>
          <a:xfrm xmlns:a="http://schemas.openxmlformats.org/drawingml/2006/main">
            <a:off x="9124950" y="2381250"/>
            <a:ext cx="223837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8625" b="1">
                <a:solidFill>
                  <a:srgbClr val="C6A66A"/>
                </a:solidFill>
                <a:latin typeface="Nimbus Sans"/>
                <a:ea typeface="Nimbus Sans"/>
                <a:cs typeface="Nimbus Sans"/>
              </a:defRPr>
            </a:pPr>
            <a:r>
              <a:rPr sz="8625" b="1">
                <a:solidFill>
                  <a:srgbClr val="C6A66A"/>
                </a:solidFill>
                <a:latin typeface="Nimbus Sans"/>
                <a:ea typeface="Nimbus Sans"/>
                <a:cs typeface="Nimbus Sans"/>
              </a:rPr>
              <a:t>11</a:t>
            </a:r>
          </a:p>
        </p:txBody>
      </p:sp>
      <p:sp>
        <p:nvSpPr>
          <p:cNvPr id="8" name="">
            <a:extLst xmlns:a="http://schemas.openxmlformats.org/drawingml/2006/main">
              <a:ext uri="{FF2B5EF4-FFF2-40B4-BE49-F238E27FC236}">
                <a16:creationId xmlns:a16="http://schemas.microsoft.com/office/drawing/2014/main" id="{7D3826E7-7951-4FF7-9916-70A6E0552E9D}"/>
              </a:ext>
            </a:extLst>
          </p:cNvPr>
          <p:cNvSpPr>
            <a:spLocks xmlns:a="http://schemas.openxmlformats.org/drawingml/2006/main" noGrp="1"/>
          </p:cNvSpPr>
          <p:nvPr/>
        </p:nvSpPr>
        <p:spPr>
          <a:xfrm xmlns:a="http://schemas.openxmlformats.org/drawingml/2006/main">
            <a:off x="9163050" y="3905250"/>
            <a:ext cx="247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B9C0BE"/>
                </a:solidFill>
                <a:latin typeface="Nimbus Sans"/>
                <a:ea typeface="Nimbus Sans"/>
                <a:cs typeface="Nimbus Sans"/>
              </a:defRPr>
            </a:pPr>
            <a:r>
              <a:rPr sz="2250" b="0">
                <a:solidFill>
                  <a:srgbClr val="B9C0BE"/>
                </a:solidFill>
                <a:latin typeface="Nimbus Sans"/>
                <a:ea typeface="Nimbus Sans"/>
                <a:cs typeface="Nimbus Sans"/>
              </a:rPr>
              <a:t>broad sectors</a:t>
            </a:r>
          </a:p>
        </p:txBody>
      </p:sp>
      <p:sp>
        <p:nvSpPr>
          <p:cNvPr id="9" name="">
            <a:extLst xmlns:a="http://schemas.openxmlformats.org/drawingml/2006/main">
              <a:ext uri="{FF2B5EF4-FFF2-40B4-BE49-F238E27FC236}">
                <a16:creationId xmlns:a16="http://schemas.microsoft.com/office/drawing/2014/main" id="{15E663F9-43E7-4EFA-AF42-6ACE85FAF2E5}"/>
              </a:ext>
            </a:extLst>
          </p:cNvPr>
          <p:cNvSpPr>
            <a:spLocks xmlns:a="http://schemas.openxmlformats.org/drawingml/2006/main" noGrp="1"/>
          </p:cNvSpPr>
          <p:nvPr/>
        </p:nvSpPr>
        <p:spPr>
          <a:xfrm xmlns:a="http://schemas.openxmlformats.org/drawingml/2006/main">
            <a:off x="742950" y="5267325"/>
            <a:ext cx="106203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B9C0BE"/>
                </a:solidFill>
                <a:latin typeface="Nimbus Sans"/>
                <a:ea typeface="Nimbus Sans"/>
                <a:cs typeface="Nimbus Sans"/>
              </a:defRPr>
            </a:pPr>
            <a:r>
              <a:rPr sz="1950" b="0">
                <a:solidFill>
                  <a:srgbClr val="B9C0BE"/>
                </a:solidFill>
                <a:latin typeface="Nimbus Sans"/>
                <a:ea typeface="Nimbus Sans"/>
                <a:cs typeface="Nimbus Sans"/>
              </a:rPr>
              <a:t>14 names have direct company-source coverage.</a:t>
            </a:r>
          </a:p>
          <a:p xmlns:a="http://schemas.openxmlformats.org/drawingml/2006/main">
            <a:pPr>
              <a:defRPr sz="1950" b="0">
                <a:solidFill>
                  <a:srgbClr val="B9C0BE"/>
                </a:solidFill>
                <a:latin typeface="Nimbus Sans"/>
                <a:ea typeface="Nimbus Sans"/>
                <a:cs typeface="Nimbus Sans"/>
              </a:defRPr>
            </a:pPr>
            <a:r>
              <a:rPr sz="1950" b="0">
                <a:solidFill>
                  <a:srgbClr val="B9C0BE"/>
                </a:solidFill>
                <a:latin typeface="Nimbus Sans"/>
                <a:ea typeface="Nimbus Sans"/>
                <a:cs typeface="Nimbus Sans"/>
              </a:rPr>
              <a:t>86 begin as structural hypotheses. All valuations remain open.</a:t>
            </a:r>
          </a:p>
        </p:txBody>
      </p:sp>
    </p:spTree>
    <p:extLst>
      <p:ext uri="{BB962C8B-B14F-4D97-AF65-F5344CB8AC3E}">
        <p14:creationId xmlns:p14="http://schemas.microsoft.com/office/powerpoint/2010/main" val="1973289208"/>
      </p:ext>
    </p:extLst>
  </p:cSld>
</p:sld>
</file>

<file path=ppt/slides/slide11.xml><?xml version="1.0" encoding="utf-8"?>
<p:sld xmlns:p="http://schemas.openxmlformats.org/presentationml/2006/main">
  <p:cSld>
    <p:bg>
      <p:bgPr>
        <a:solidFill xmlns:a="http://schemas.openxmlformats.org/drawingml/2006/main">
          <a:srgbClr val="F3F0E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30C3225-0433-465C-8CD2-11E610533E3C}"/>
              </a:ext>
            </a:extLst>
          </p:cNvPr>
          <p:cNvSpPr>
            <a:spLocks xmlns:a="http://schemas.openxmlformats.org/drawingml/2006/main" noGrp="1"/>
          </p:cNvSpPr>
          <p:nvPr/>
        </p:nvSpPr>
        <p:spPr>
          <a:xfrm xmlns:a="http://schemas.openxmlformats.org/drawingml/2006/main">
            <a:off x="666750" y="552450"/>
            <a:ext cx="107632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525" b="1">
                <a:solidFill>
                  <a:srgbClr val="14191B"/>
                </a:solidFill>
                <a:latin typeface="Nimbus Sans"/>
                <a:ea typeface="Nimbus Sans"/>
                <a:cs typeface="Nimbus Sans"/>
              </a:defRPr>
            </a:pPr>
            <a:r>
              <a:rPr sz="3525" b="1">
                <a:solidFill>
                  <a:srgbClr val="14191B"/>
                </a:solidFill>
                <a:latin typeface="Nimbus Sans"/>
                <a:ea typeface="Nimbus Sans"/>
                <a:cs typeface="Nimbus Sans"/>
              </a:rPr>
              <a:t>The first 18 diligence targets</a:t>
            </a:r>
          </a:p>
        </p:txBody>
      </p:sp>
      <p:sp>
        <p:nvSpPr>
          <p:cNvPr id="2" name="">
            <a:extLst xmlns:a="http://schemas.openxmlformats.org/drawingml/2006/main">
              <a:ext uri="{FF2B5EF4-FFF2-40B4-BE49-F238E27FC236}">
                <a16:creationId xmlns:a16="http://schemas.microsoft.com/office/drawing/2014/main" id="{F8AF4957-D06D-4496-82D3-009D4D52C80E}"/>
              </a:ext>
            </a:extLst>
          </p:cNvPr>
          <p:cNvSpPr>
            <a:spLocks xmlns:a="http://schemas.openxmlformats.org/drawingml/2006/main" noGrp="1"/>
          </p:cNvSpPr>
          <p:nvPr/>
        </p:nvSpPr>
        <p:spPr>
          <a:xfrm xmlns:a="http://schemas.openxmlformats.org/drawingml/2006/main">
            <a:off x="685800" y="1619250"/>
            <a:ext cx="10572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626A6B"/>
                </a:solidFill>
                <a:latin typeface="Nimbus Sans"/>
                <a:ea typeface="Nimbus Sans"/>
                <a:cs typeface="Nimbus Sans"/>
              </a:defRPr>
            </a:pPr>
            <a:r>
              <a:rPr sz="1875" b="0">
                <a:solidFill>
                  <a:srgbClr val="626A6B"/>
                </a:solidFill>
                <a:latin typeface="Nimbus Sans"/>
                <a:ea typeface="Nimbus Sans"/>
                <a:cs typeface="Nimbus Sans"/>
              </a:rPr>
              <a:t>A research queue chosen to test different mechanisms. No current buy ratings or weights.</a:t>
            </a:r>
          </a:p>
        </p:txBody>
      </p:sp>
      <p:sp>
        <p:nvSpPr>
          <p:cNvPr id="3" name="">
            <a:extLst xmlns:a="http://schemas.openxmlformats.org/drawingml/2006/main">
              <a:ext uri="{FF2B5EF4-FFF2-40B4-BE49-F238E27FC236}">
                <a16:creationId xmlns:a16="http://schemas.microsoft.com/office/drawing/2014/main" id="{755CD56B-50D4-40CA-A8AB-EDA7BA6D45A5}"/>
              </a:ext>
            </a:extLst>
          </p:cNvPr>
          <p:cNvSpPr>
            <a:spLocks xmlns:a="http://schemas.openxmlformats.org/drawingml/2006/main" noGrp="1"/>
          </p:cNvSpPr>
          <p:nvPr/>
        </p:nvSpPr>
        <p:spPr>
          <a:xfrm xmlns:a="http://schemas.openxmlformats.org/drawingml/2006/main">
            <a:off x="11191875" y="6334125"/>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626A6B"/>
                </a:solidFill>
                <a:latin typeface="Nimbus Sans"/>
                <a:ea typeface="Nimbus Sans"/>
                <a:cs typeface="Nimbus Sans"/>
              </a:defRPr>
            </a:pPr>
            <a:r>
              <a:rPr sz="1275" b="0">
                <a:solidFill>
                  <a:srgbClr val="626A6B"/>
                </a:solidFill>
                <a:latin typeface="Nimbus Sans"/>
                <a:ea typeface="Nimbus Sans"/>
                <a:cs typeface="Nimbus Sans"/>
              </a:rPr>
              <a:t>11</a:t>
            </a:r>
          </a:p>
        </p:txBody>
      </p:sp>
      <p:graphicFrame>
        <p:nvGraphicFramePr>
          <p:cNvPr id="8" name=""/>
          <p:cNvGraphicFramePr/>
          <p:nvPr/>
        </p:nvGraphicFramePr>
        <p:xfrm>
          <a:off xmlns:a="http://schemas.openxmlformats.org/drawingml/2006/main" x="685800" y="2619375"/>
          <a:ext xmlns:a="http://schemas.openxmlformats.org/drawingml/2006/main" cx="10820400" cy="3095625"/>
        </p:xfrm>
        <a:graphic xmlns:a="http://schemas.openxmlformats.org/drawingml/2006/main">
          <a:graphicData uri="http://schemas.openxmlformats.org/drawingml/2006/table">
            <a:tbl>
              <a:tblPr firstRow="0" bandRow="0"/>
              <a:tblGrid>
                <a:gridCol w="2762250"/>
                <a:gridCol w="8058150"/>
              </a:tblGrid>
              <a:tr h="476250">
                <a:tc>
                  <a:txBody>
                    <a:bodyPr/>
                    <a:lstStyle/>
                    <a:p>
                      <a:r>
                        <a:rPr sz="1500" b="1">
                          <a:solidFill>
                            <a:srgbClr val="FCFBF7"/>
                          </a:solidFill>
                          <a:latin typeface="Nimbus Sans"/>
                          <a:ea typeface="Nimbus Sans"/>
                          <a:cs typeface="Nimbus Sans"/>
                        </a:rPr>
                        <a:t>Mechanism</a:t>
                      </a:r>
                    </a:p>
                  </a:txBody>
                  <a:tcPr marL="91440" marR="91440" marT="45720" marB="45720">
                    <a:solidFill>
                      <a:srgbClr val="14191B"/>
                    </a:solidFill>
                  </a:tcPr>
                </a:tc>
                <a:tc>
                  <a:txBody>
                    <a:bodyPr/>
                    <a:lstStyle/>
                    <a:p>
                      <a:r>
                        <a:rPr sz="1500" b="1">
                          <a:solidFill>
                            <a:srgbClr val="FCFBF7"/>
                          </a:solidFill>
                          <a:latin typeface="Nimbus Sans"/>
                          <a:ea typeface="Nimbus Sans"/>
                          <a:cs typeface="Nimbus Sans"/>
                        </a:rPr>
                        <a:t>Candidates</a:t>
                      </a:r>
                    </a:p>
                  </a:txBody>
                  <a:tcPr marL="91440" marR="91440" marT="45720" marB="45720">
                    <a:solidFill>
                      <a:srgbClr val="14191B"/>
                    </a:solidFill>
                  </a:tcPr>
                </a:tc>
              </a:tr>
              <a:tr h="654844">
                <a:tc>
                  <a:txBody>
                    <a:bodyPr/>
                    <a:lstStyle/>
                    <a:p>
                      <a:r>
                        <a:rPr sz="2025" b="0">
                          <a:solidFill>
                            <a:srgbClr val="14191B"/>
                          </a:solidFill>
                          <a:latin typeface="Nimbus Sans"/>
                          <a:ea typeface="Nimbus Sans"/>
                          <a:cs typeface="Nimbus Sans"/>
                        </a:rPr>
                        <a:t>Trusted workflows</a:t>
                      </a:r>
                    </a:p>
                  </a:txBody>
                  <a:tcPr marL="91440" marR="91440" marT="45720" marB="45720">
                    <a:solidFill>
                      <a:srgbClr val="F3F0E8"/>
                    </a:solidFill>
                  </a:tcPr>
                </a:tc>
                <a:tc>
                  <a:txBody>
                    <a:bodyPr/>
                    <a:lstStyle/>
                    <a:p>
                      <a:r>
                        <a:rPr sz="2025" b="0">
                          <a:solidFill>
                            <a:srgbClr val="14191B"/>
                          </a:solidFill>
                          <a:latin typeface="Nimbus Sans"/>
                          <a:ea typeface="Nimbus Sans"/>
                          <a:cs typeface="Nimbus Sans"/>
                        </a:rPr>
                        <a:t>RELX, Wolters Kluwer, Thomson Reuters,</a:t>
                      </a:r>
                    </a:p>
                    <a:p>
                      <a:r>
                        <a:rPr sz="2025" b="0">
                          <a:solidFill>
                            <a:srgbClr val="14191B"/>
                          </a:solidFill>
                          <a:latin typeface="Nimbus Sans"/>
                          <a:ea typeface="Nimbus Sans"/>
                          <a:cs typeface="Nimbus Sans"/>
                        </a:rPr>
                        <a:t>Experian, Intuit, SAP</a:t>
                      </a:r>
                    </a:p>
                  </a:txBody>
                  <a:tcPr marL="91440" marR="91440" marT="45720" marB="45720">
                    <a:solidFill>
                      <a:srgbClr val="F3F0E8"/>
                    </a:solidFill>
                  </a:tcPr>
                </a:tc>
              </a:tr>
              <a:tr h="654844">
                <a:tc>
                  <a:txBody>
                    <a:bodyPr/>
                    <a:lstStyle/>
                    <a:p>
                      <a:r>
                        <a:rPr sz="2025" b="0">
                          <a:solidFill>
                            <a:srgbClr val="14191B"/>
                          </a:solidFill>
                          <a:latin typeface="Nimbus Sans"/>
                          <a:ea typeface="Nimbus Sans"/>
                          <a:cs typeface="Nimbus Sans"/>
                        </a:rPr>
                        <a:t>Risk decisions</a:t>
                      </a:r>
                    </a:p>
                  </a:txBody>
                  <a:tcPr marL="91440" marR="91440" marT="45720" marB="45720">
                    <a:solidFill>
                      <a:srgbClr val="F3F0E8"/>
                    </a:solidFill>
                  </a:tcPr>
                </a:tc>
                <a:tc>
                  <a:txBody>
                    <a:bodyPr/>
                    <a:lstStyle/>
                    <a:p>
                      <a:r>
                        <a:rPr sz="2025" b="0">
                          <a:solidFill>
                            <a:srgbClr val="14191B"/>
                          </a:solidFill>
                          <a:latin typeface="Nimbus Sans"/>
                          <a:ea typeface="Nimbus Sans"/>
                          <a:cs typeface="Nimbus Sans"/>
                        </a:rPr>
                        <a:t>Munich Re, Chubb, Visa, JPMorgan Chase</a:t>
                      </a:r>
                    </a:p>
                  </a:txBody>
                  <a:tcPr marL="91440" marR="91440" marT="45720" marB="45720">
                    <a:solidFill>
                      <a:srgbClr val="F3F0E8"/>
                    </a:solidFill>
                  </a:tcPr>
                </a:tc>
              </a:tr>
              <a:tr h="654844">
                <a:tc>
                  <a:txBody>
                    <a:bodyPr/>
                    <a:lstStyle/>
                    <a:p>
                      <a:r>
                        <a:rPr sz="2025" b="0">
                          <a:solidFill>
                            <a:srgbClr val="14191B"/>
                          </a:solidFill>
                          <a:latin typeface="Nimbus Sans"/>
                          <a:ea typeface="Nimbus Sans"/>
                          <a:cs typeface="Nimbus Sans"/>
                        </a:rPr>
                        <a:t>Physical operations</a:t>
                      </a:r>
                    </a:p>
                  </a:txBody>
                  <a:tcPr marL="91440" marR="91440" marT="45720" marB="45720">
                    <a:solidFill>
                      <a:srgbClr val="F3F0E8"/>
                    </a:solidFill>
                  </a:tcPr>
                </a:tc>
                <a:tc>
                  <a:txBody>
                    <a:bodyPr/>
                    <a:lstStyle/>
                    <a:p>
                      <a:r>
                        <a:rPr sz="2025" b="0">
                          <a:solidFill>
                            <a:srgbClr val="14191B"/>
                          </a:solidFill>
                          <a:latin typeface="Nimbus Sans"/>
                          <a:ea typeface="Nimbus Sans"/>
                          <a:cs typeface="Nimbus Sans"/>
                        </a:rPr>
                        <a:t>Siemens, Schneider Electric, Linde, Deere, Amazon</a:t>
                      </a:r>
                    </a:p>
                  </a:txBody>
                  <a:tcPr marL="91440" marR="91440" marT="45720" marB="45720">
                    <a:solidFill>
                      <a:srgbClr val="F3F0E8"/>
                    </a:solidFill>
                  </a:tcPr>
                </a:tc>
              </a:tr>
              <a:tr h="654844">
                <a:tc>
                  <a:txBody>
                    <a:bodyPr/>
                    <a:lstStyle/>
                    <a:p>
                      <a:r>
                        <a:rPr sz="2025" b="0">
                          <a:solidFill>
                            <a:srgbClr val="14191B"/>
                          </a:solidFill>
                          <a:latin typeface="Nimbus Sans"/>
                          <a:ea typeface="Nimbus Sans"/>
                          <a:cs typeface="Nimbus Sans"/>
                        </a:rPr>
                        <a:t>Scientific output</a:t>
                      </a:r>
                    </a:p>
                  </a:txBody>
                  <a:tcPr marL="91440" marR="91440" marT="45720" marB="45720">
                    <a:solidFill>
                      <a:srgbClr val="F3F0E8"/>
                    </a:solidFill>
                  </a:tcPr>
                </a:tc>
                <a:tc>
                  <a:txBody>
                    <a:bodyPr/>
                    <a:lstStyle/>
                    <a:p>
                      <a:r>
                        <a:rPr sz="2025" b="0">
                          <a:solidFill>
                            <a:srgbClr val="14191B"/>
                          </a:solidFill>
                          <a:latin typeface="Nimbus Sans"/>
                          <a:ea typeface="Nimbus Sans"/>
                          <a:cs typeface="Nimbus Sans"/>
                        </a:rPr>
                        <a:t>Sanofi, Roche, AstraZeneca</a:t>
                      </a:r>
                    </a:p>
                  </a:txBody>
                  <a:tcPr marL="91440" marR="91440" marT="45720" marB="45720">
                    <a:solidFill>
                      <a:srgbClr val="F3F0E8"/>
                    </a:solidFill>
                  </a:tcPr>
                </a:tc>
              </a:tr>
            </a:tbl>
          </a:graphicData>
        </a:graphic>
      </p:graphicFrame>
    </p:spTree>
    <p:extLst>
      <p:ext uri="{BB962C8B-B14F-4D97-AF65-F5344CB8AC3E}">
        <p14:creationId xmlns:p14="http://schemas.microsoft.com/office/powerpoint/2010/main" val="1463380723"/>
      </p:ext>
    </p:extLst>
  </p:cSld>
</p:sld>
</file>

<file path=ppt/slides/slide12.xml><?xml version="1.0" encoding="utf-8"?>
<p:sld xmlns:p="http://schemas.openxmlformats.org/presentationml/2006/main">
  <p:cSld>
    <p:bg>
      <p:bgPr>
        <a:solidFill xmlns:a="http://schemas.openxmlformats.org/drawingml/2006/main">
          <a:srgbClr val="F3F0E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4D1E959-1769-4D8B-BC77-394EECF98AB8}"/>
              </a:ext>
            </a:extLst>
          </p:cNvPr>
          <p:cNvSpPr>
            <a:spLocks xmlns:a="http://schemas.openxmlformats.org/drawingml/2006/main" noGrp="1"/>
          </p:cNvSpPr>
          <p:nvPr/>
        </p:nvSpPr>
        <p:spPr>
          <a:xfrm xmlns:a="http://schemas.openxmlformats.org/drawingml/2006/main">
            <a:off x="666750" y="552450"/>
            <a:ext cx="107632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525" b="1">
                <a:solidFill>
                  <a:srgbClr val="14191B"/>
                </a:solidFill>
                <a:latin typeface="Nimbus Sans"/>
                <a:ea typeface="Nimbus Sans"/>
                <a:cs typeface="Nimbus Sans"/>
              </a:defRPr>
            </a:pPr>
            <a:r>
              <a:rPr sz="3525" b="1">
                <a:solidFill>
                  <a:srgbClr val="14191B"/>
                </a:solidFill>
                <a:latin typeface="Nimbus Sans"/>
                <a:ea typeface="Nimbus Sans"/>
                <a:cs typeface="Nimbus Sans"/>
              </a:rPr>
              <a:t>The valuation question is</a:t>
            </a:r>
          </a:p>
          <a:p xmlns:a="http://schemas.openxmlformats.org/drawingml/2006/main">
            <a:pPr>
              <a:defRPr sz="3525" b="1">
                <a:solidFill>
                  <a:srgbClr val="14191B"/>
                </a:solidFill>
                <a:latin typeface="Nimbus Sans"/>
                <a:ea typeface="Nimbus Sans"/>
                <a:cs typeface="Nimbus Sans"/>
              </a:defRPr>
            </a:pPr>
            <a:r>
              <a:rPr sz="3525" b="1">
                <a:solidFill>
                  <a:srgbClr val="14191B"/>
                </a:solidFill>
                <a:latin typeface="Nimbus Sans"/>
                <a:ea typeface="Nimbus Sans"/>
                <a:cs typeface="Nimbus Sans"/>
              </a:rPr>
              <a:t>what the price already requires</a:t>
            </a:r>
          </a:p>
        </p:txBody>
      </p:sp>
      <p:sp>
        <p:nvSpPr>
          <p:cNvPr id="2" name="">
            <a:extLst xmlns:a="http://schemas.openxmlformats.org/drawingml/2006/main">
              <a:ext uri="{FF2B5EF4-FFF2-40B4-BE49-F238E27FC236}">
                <a16:creationId xmlns:a16="http://schemas.microsoft.com/office/drawing/2014/main" id="{5D7C0566-842D-40AA-92BC-1523A868F947}"/>
              </a:ext>
            </a:extLst>
          </p:cNvPr>
          <p:cNvSpPr>
            <a:spLocks xmlns:a="http://schemas.openxmlformats.org/drawingml/2006/main" noGrp="1"/>
          </p:cNvSpPr>
          <p:nvPr/>
        </p:nvSpPr>
        <p:spPr>
          <a:xfrm xmlns:a="http://schemas.openxmlformats.org/drawingml/2006/main">
            <a:off x="685800" y="1619250"/>
            <a:ext cx="10572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626A6B"/>
                </a:solidFill>
                <a:latin typeface="Nimbus Sans"/>
                <a:ea typeface="Nimbus Sans"/>
                <a:cs typeface="Nimbus Sans"/>
              </a:defRPr>
            </a:pPr>
            <a:r>
              <a:rPr sz="1875" b="0">
                <a:solidFill>
                  <a:srgbClr val="626A6B"/>
                </a:solidFill>
                <a:latin typeface="Nimbus Sans"/>
                <a:ea typeface="Nimbus Sans"/>
                <a:cs typeface="Nimbus Sans"/>
              </a:rPr>
              <a:t>The desired opportunity is a strong existing business with underappreciated incremental productivity.</a:t>
            </a:r>
          </a:p>
        </p:txBody>
      </p:sp>
      <p:sp>
        <p:nvSpPr>
          <p:cNvPr id="3" name="">
            <a:extLst xmlns:a="http://schemas.openxmlformats.org/drawingml/2006/main">
              <a:ext uri="{FF2B5EF4-FFF2-40B4-BE49-F238E27FC236}">
                <a16:creationId xmlns:a16="http://schemas.microsoft.com/office/drawing/2014/main" id="{FACAAEE8-6716-42C5-BC09-3B4DDE15217C}"/>
              </a:ext>
            </a:extLst>
          </p:cNvPr>
          <p:cNvSpPr>
            <a:spLocks xmlns:a="http://schemas.openxmlformats.org/drawingml/2006/main" noGrp="1"/>
          </p:cNvSpPr>
          <p:nvPr/>
        </p:nvSpPr>
        <p:spPr>
          <a:xfrm xmlns:a="http://schemas.openxmlformats.org/drawingml/2006/main">
            <a:off x="11191875" y="6334125"/>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626A6B"/>
                </a:solidFill>
                <a:latin typeface="Nimbus Sans"/>
                <a:ea typeface="Nimbus Sans"/>
                <a:cs typeface="Nimbus Sans"/>
              </a:defRPr>
            </a:pPr>
            <a:r>
              <a:rPr sz="1275" b="0">
                <a:solidFill>
                  <a:srgbClr val="626A6B"/>
                </a:solidFill>
                <a:latin typeface="Nimbus Sans"/>
                <a:ea typeface="Nimbus Sans"/>
                <a:cs typeface="Nimbus Sans"/>
              </a:rPr>
              <a:t>12</a:t>
            </a:r>
          </a:p>
        </p:txBody>
      </p:sp>
      <p:sp>
        <p:nvSpPr>
          <p:cNvPr id="4" name="">
            <a:extLst xmlns:a="http://schemas.openxmlformats.org/drawingml/2006/main">
              <a:ext uri="{FF2B5EF4-FFF2-40B4-BE49-F238E27FC236}">
                <a16:creationId xmlns:a16="http://schemas.microsoft.com/office/drawing/2014/main" id="{A9A848FC-E667-4816-A68E-789073E5457A}"/>
              </a:ext>
            </a:extLst>
          </p:cNvPr>
          <p:cNvSpPr>
            <a:spLocks xmlns:a="http://schemas.openxmlformats.org/drawingml/2006/main" noGrp="1"/>
          </p:cNvSpPr>
          <p:nvPr/>
        </p:nvSpPr>
        <p:spPr>
          <a:xfrm xmlns:a="http://schemas.openxmlformats.org/drawingml/2006/main">
            <a:off x="704850" y="2590800"/>
            <a:ext cx="352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a:solidFill>
                  <a:srgbClr val="527D70"/>
                </a:solidFill>
                <a:latin typeface="Nimbus Sans"/>
                <a:ea typeface="Nimbus Sans"/>
                <a:cs typeface="Nimbus Sans"/>
              </a:defRPr>
            </a:pPr>
            <a:r>
              <a:rPr sz="2250" b="1">
                <a:solidFill>
                  <a:srgbClr val="527D70"/>
                </a:solidFill>
                <a:latin typeface="Nimbus Sans"/>
                <a:ea typeface="Nimbus Sans"/>
                <a:cs typeface="Nimbus Sans"/>
              </a:rPr>
              <a:t>Conventional business</a:t>
            </a:r>
          </a:p>
        </p:txBody>
      </p:sp>
      <p:sp>
        <p:nvSpPr>
          <p:cNvPr id="5" name="">
            <a:extLst xmlns:a="http://schemas.openxmlformats.org/drawingml/2006/main">
              <a:ext uri="{FF2B5EF4-FFF2-40B4-BE49-F238E27FC236}">
                <a16:creationId xmlns:a16="http://schemas.microsoft.com/office/drawing/2014/main" id="{8D7760AC-845E-4DEC-9DF4-A64E7E32ED08}"/>
              </a:ext>
            </a:extLst>
          </p:cNvPr>
          <p:cNvSpPr>
            <a:spLocks xmlns:a="http://schemas.openxmlformats.org/drawingml/2006/main" noGrp="1"/>
          </p:cNvSpPr>
          <p:nvPr/>
        </p:nvSpPr>
        <p:spPr>
          <a:xfrm xmlns:a="http://schemas.openxmlformats.org/drawingml/2006/main">
            <a:off x="4514850" y="2590800"/>
            <a:ext cx="67246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4191B"/>
                </a:solidFill>
                <a:latin typeface="Nimbus Sans"/>
                <a:ea typeface="Nimbus Sans"/>
                <a:cs typeface="Nimbus Sans"/>
              </a:defRPr>
            </a:pPr>
            <a:r>
              <a:rPr sz="2025" b="0">
                <a:solidFill>
                  <a:srgbClr val="14191B"/>
                </a:solidFill>
                <a:latin typeface="Nimbus Sans"/>
                <a:ea typeface="Nimbus Sans"/>
                <a:cs typeface="Nimbus Sans"/>
              </a:rPr>
              <a:t>Cash earnings and downside with no incremental AI benefit</a:t>
            </a:r>
          </a:p>
        </p:txBody>
      </p:sp>
      <p:sp>
        <p:nvSpPr>
          <p:cNvPr id="6" name="">
            <a:extLst xmlns:a="http://schemas.openxmlformats.org/drawingml/2006/main">
              <a:ext uri="{FF2B5EF4-FFF2-40B4-BE49-F238E27FC236}">
                <a16:creationId xmlns:a16="http://schemas.microsoft.com/office/drawing/2014/main" id="{548CC014-52FA-464E-909B-B9A09D66C73C}"/>
              </a:ext>
            </a:extLst>
          </p:cNvPr>
          <p:cNvSpPr>
            <a:spLocks xmlns:a="http://schemas.openxmlformats.org/drawingml/2006/main" noGrp="1"/>
          </p:cNvSpPr>
          <p:nvPr/>
        </p:nvSpPr>
        <p:spPr>
          <a:xfrm xmlns:a="http://schemas.openxmlformats.org/drawingml/2006/main">
            <a:off x="704850" y="3629025"/>
            <a:ext cx="352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a:solidFill>
                  <a:srgbClr val="527D70"/>
                </a:solidFill>
                <a:latin typeface="Nimbus Sans"/>
                <a:ea typeface="Nimbus Sans"/>
                <a:cs typeface="Nimbus Sans"/>
              </a:defRPr>
            </a:pPr>
            <a:r>
              <a:rPr sz="2250" b="1">
                <a:solidFill>
                  <a:srgbClr val="527D70"/>
                </a:solidFill>
                <a:latin typeface="Nimbus Sans"/>
                <a:ea typeface="Nimbus Sans"/>
                <a:cs typeface="Nimbus Sans"/>
              </a:rPr>
              <a:t>Incremental productivity</a:t>
            </a:r>
          </a:p>
        </p:txBody>
      </p:sp>
      <p:sp>
        <p:nvSpPr>
          <p:cNvPr id="7" name="">
            <a:extLst xmlns:a="http://schemas.openxmlformats.org/drawingml/2006/main">
              <a:ext uri="{FF2B5EF4-FFF2-40B4-BE49-F238E27FC236}">
                <a16:creationId xmlns:a16="http://schemas.microsoft.com/office/drawing/2014/main" id="{42613622-406F-405C-9244-6DDC29FF0290}"/>
              </a:ext>
            </a:extLst>
          </p:cNvPr>
          <p:cNvSpPr>
            <a:spLocks xmlns:a="http://schemas.openxmlformats.org/drawingml/2006/main" noGrp="1"/>
          </p:cNvSpPr>
          <p:nvPr/>
        </p:nvSpPr>
        <p:spPr>
          <a:xfrm xmlns:a="http://schemas.openxmlformats.org/drawingml/2006/main">
            <a:off x="4514850" y="3629025"/>
            <a:ext cx="67246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4191B"/>
                </a:solidFill>
                <a:latin typeface="Nimbus Sans"/>
                <a:ea typeface="Nimbus Sans"/>
                <a:cs typeface="Nimbus Sans"/>
              </a:defRPr>
            </a:pPr>
            <a:r>
              <a:rPr sz="2025" b="0">
                <a:solidFill>
                  <a:srgbClr val="14191B"/>
                </a:solidFill>
                <a:latin typeface="Nimbus Sans"/>
                <a:ea typeface="Nimbus Sans"/>
                <a:cs typeface="Nimbus Sans"/>
              </a:rPr>
              <a:t>Adoption, quality, retained economics and capital cost</a:t>
            </a:r>
          </a:p>
        </p:txBody>
      </p:sp>
      <p:sp>
        <p:nvSpPr>
          <p:cNvPr id="8" name="">
            <a:extLst xmlns:a="http://schemas.openxmlformats.org/drawingml/2006/main">
              <a:ext uri="{FF2B5EF4-FFF2-40B4-BE49-F238E27FC236}">
                <a16:creationId xmlns:a16="http://schemas.microsoft.com/office/drawing/2014/main" id="{D6B4809A-B83A-458F-A135-7F0FA3A8187B}"/>
              </a:ext>
            </a:extLst>
          </p:cNvPr>
          <p:cNvSpPr>
            <a:spLocks xmlns:a="http://schemas.openxmlformats.org/drawingml/2006/main" noGrp="1"/>
          </p:cNvSpPr>
          <p:nvPr/>
        </p:nvSpPr>
        <p:spPr>
          <a:xfrm xmlns:a="http://schemas.openxmlformats.org/drawingml/2006/main">
            <a:off x="704850" y="4667250"/>
            <a:ext cx="352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a:solidFill>
                  <a:srgbClr val="527D70"/>
                </a:solidFill>
                <a:latin typeface="Nimbus Sans"/>
                <a:ea typeface="Nimbus Sans"/>
                <a:cs typeface="Nimbus Sans"/>
              </a:defRPr>
            </a:pPr>
            <a:r>
              <a:rPr sz="2250" b="1">
                <a:solidFill>
                  <a:srgbClr val="527D70"/>
                </a:solidFill>
                <a:latin typeface="Nimbus Sans"/>
                <a:ea typeface="Nimbus Sans"/>
                <a:cs typeface="Nimbus Sans"/>
              </a:rPr>
              <a:t>Market expectations</a:t>
            </a:r>
          </a:p>
        </p:txBody>
      </p:sp>
      <p:sp>
        <p:nvSpPr>
          <p:cNvPr id="9" name="">
            <a:extLst xmlns:a="http://schemas.openxmlformats.org/drawingml/2006/main">
              <a:ext uri="{FF2B5EF4-FFF2-40B4-BE49-F238E27FC236}">
                <a16:creationId xmlns:a16="http://schemas.microsoft.com/office/drawing/2014/main" id="{7DA469F9-A72D-4CF3-B60E-C9BB81B5C143}"/>
              </a:ext>
            </a:extLst>
          </p:cNvPr>
          <p:cNvSpPr>
            <a:spLocks xmlns:a="http://schemas.openxmlformats.org/drawingml/2006/main" noGrp="1"/>
          </p:cNvSpPr>
          <p:nvPr/>
        </p:nvSpPr>
        <p:spPr>
          <a:xfrm xmlns:a="http://schemas.openxmlformats.org/drawingml/2006/main">
            <a:off x="4514850" y="4667250"/>
            <a:ext cx="67246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4191B"/>
                </a:solidFill>
                <a:latin typeface="Nimbus Sans"/>
                <a:ea typeface="Nimbus Sans"/>
                <a:cs typeface="Nimbus Sans"/>
              </a:defRPr>
            </a:pPr>
            <a:r>
              <a:rPr sz="2025" b="0">
                <a:solidFill>
                  <a:srgbClr val="14191B"/>
                </a:solidFill>
                <a:latin typeface="Nimbus Sans"/>
                <a:ea typeface="Nimbus Sans"/>
                <a:cs typeface="Nimbus Sans"/>
              </a:rPr>
              <a:t>The growth and margins implied by the current share price</a:t>
            </a:r>
          </a:p>
        </p:txBody>
      </p:sp>
      <p:sp>
        <p:nvSpPr>
          <p:cNvPr id="10" name="">
            <a:extLst xmlns:a="http://schemas.openxmlformats.org/drawingml/2006/main">
              <a:ext uri="{FF2B5EF4-FFF2-40B4-BE49-F238E27FC236}">
                <a16:creationId xmlns:a16="http://schemas.microsoft.com/office/drawing/2014/main" id="{2FA9844B-B3FB-4E43-850B-E3A9E7A53640}"/>
              </a:ext>
            </a:extLst>
          </p:cNvPr>
          <p:cNvSpPr>
            <a:spLocks xmlns:a="http://schemas.openxmlformats.org/drawingml/2006/main" noGrp="1"/>
          </p:cNvSpPr>
          <p:nvPr/>
        </p:nvSpPr>
        <p:spPr>
          <a:xfrm xmlns:a="http://schemas.openxmlformats.org/drawingml/2006/main">
            <a:off x="704850" y="5943600"/>
            <a:ext cx="1062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626A6B"/>
                </a:solidFill>
                <a:latin typeface="Nimbus Sans"/>
                <a:ea typeface="Nimbus Sans"/>
                <a:cs typeface="Nimbus Sans"/>
              </a:defRPr>
            </a:pPr>
            <a:r>
              <a:rPr sz="1575" b="0">
                <a:solidFill>
                  <a:srgbClr val="626A6B"/>
                </a:solidFill>
                <a:latin typeface="Nimbus Sans"/>
                <a:ea typeface="Nimbus Sans"/>
                <a:cs typeface="Nimbus Sans"/>
              </a:rPr>
              <a:t>A low multiple is a question to investigate. It is not evidence that AI upside is free.</a:t>
            </a:r>
          </a:p>
        </p:txBody>
      </p:sp>
    </p:spTree>
    <p:extLst>
      <p:ext uri="{BB962C8B-B14F-4D97-AF65-F5344CB8AC3E}">
        <p14:creationId xmlns:p14="http://schemas.microsoft.com/office/powerpoint/2010/main" val="674539028"/>
      </p:ext>
    </p:extLst>
  </p:cSld>
</p:sld>
</file>

<file path=ppt/slides/slide13.xml><?xml version="1.0" encoding="utf-8"?>
<p:sld xmlns:p="http://schemas.openxmlformats.org/presentationml/2006/main">
  <p:cSld>
    <p:bg>
      <p:bgPr>
        <a:solidFill xmlns:a="http://schemas.openxmlformats.org/drawingml/2006/main">
          <a:srgbClr val="14191B"/>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55A08ED-AB2C-4EEB-B43F-7577754315BC}"/>
              </a:ext>
            </a:extLst>
          </p:cNvPr>
          <p:cNvSpPr>
            <a:spLocks xmlns:a="http://schemas.openxmlformats.org/drawingml/2006/main" noGrp="1"/>
          </p:cNvSpPr>
          <p:nvPr/>
        </p:nvSpPr>
        <p:spPr>
          <a:xfrm xmlns:a="http://schemas.openxmlformats.org/drawingml/2006/main">
            <a:off x="666750" y="552450"/>
            <a:ext cx="107632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525" b="1">
                <a:solidFill>
                  <a:srgbClr val="FCFBF7"/>
                </a:solidFill>
                <a:latin typeface="Nimbus Sans"/>
                <a:ea typeface="Nimbus Sans"/>
                <a:cs typeface="Nimbus Sans"/>
              </a:defRPr>
            </a:pPr>
            <a:r>
              <a:rPr sz="3525" b="1">
                <a:solidFill>
                  <a:srgbClr val="FCFBF7"/>
                </a:solidFill>
                <a:latin typeface="Nimbus Sans"/>
                <a:ea typeface="Nimbus Sans"/>
                <a:cs typeface="Nimbus Sans"/>
              </a:rPr>
              <a:t>The strongest bear case</a:t>
            </a:r>
          </a:p>
          <a:p xmlns:a="http://schemas.openxmlformats.org/drawingml/2006/main">
            <a:pPr>
              <a:defRPr sz="3525" b="1">
                <a:solidFill>
                  <a:srgbClr val="FCFBF7"/>
                </a:solidFill>
                <a:latin typeface="Nimbus Sans"/>
                <a:ea typeface="Nimbus Sans"/>
                <a:cs typeface="Nimbus Sans"/>
              </a:defRPr>
            </a:pPr>
            <a:r>
              <a:rPr sz="3525" b="1">
                <a:solidFill>
                  <a:srgbClr val="FCFBF7"/>
                </a:solidFill>
                <a:latin typeface="Nimbus Sans"/>
                <a:ea typeface="Nimbus Sans"/>
                <a:cs typeface="Nimbus Sans"/>
              </a:rPr>
              <a:t>is cheaper competition</a:t>
            </a:r>
          </a:p>
        </p:txBody>
      </p:sp>
      <p:sp>
        <p:nvSpPr>
          <p:cNvPr id="2" name="">
            <a:extLst xmlns:a="http://schemas.openxmlformats.org/drawingml/2006/main">
              <a:ext uri="{FF2B5EF4-FFF2-40B4-BE49-F238E27FC236}">
                <a16:creationId xmlns:a16="http://schemas.microsoft.com/office/drawing/2014/main" id="{BF73AEC2-9793-476E-89FC-06FB000A8C31}"/>
              </a:ext>
            </a:extLst>
          </p:cNvPr>
          <p:cNvSpPr>
            <a:spLocks xmlns:a="http://schemas.openxmlformats.org/drawingml/2006/main" noGrp="1"/>
          </p:cNvSpPr>
          <p:nvPr/>
        </p:nvSpPr>
        <p:spPr>
          <a:xfrm xmlns:a="http://schemas.openxmlformats.org/drawingml/2006/main">
            <a:off x="11191875" y="6334125"/>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B9C0BE"/>
                </a:solidFill>
                <a:latin typeface="Nimbus Sans"/>
                <a:ea typeface="Nimbus Sans"/>
                <a:cs typeface="Nimbus Sans"/>
              </a:defRPr>
            </a:pPr>
            <a:r>
              <a:rPr sz="1275" b="0">
                <a:solidFill>
                  <a:srgbClr val="B9C0BE"/>
                </a:solidFill>
                <a:latin typeface="Nimbus Sans"/>
                <a:ea typeface="Nimbus Sans"/>
                <a:cs typeface="Nimbus Sans"/>
              </a:rPr>
              <a:t>13</a:t>
            </a:r>
          </a:p>
        </p:txBody>
      </p:sp>
      <p:sp>
        <p:nvSpPr>
          <p:cNvPr id="3" name="">
            <a:extLst xmlns:a="http://schemas.openxmlformats.org/drawingml/2006/main">
              <a:ext uri="{FF2B5EF4-FFF2-40B4-BE49-F238E27FC236}">
                <a16:creationId xmlns:a16="http://schemas.microsoft.com/office/drawing/2014/main" id="{7C626AA8-E614-467F-A8C1-BFA14704037B}"/>
              </a:ext>
            </a:extLst>
          </p:cNvPr>
          <p:cNvSpPr>
            <a:spLocks xmlns:a="http://schemas.openxmlformats.org/drawingml/2006/main" noGrp="1"/>
          </p:cNvSpPr>
          <p:nvPr/>
        </p:nvSpPr>
        <p:spPr>
          <a:xfrm xmlns:a="http://schemas.openxmlformats.org/drawingml/2006/main">
            <a:off x="704850" y="2543175"/>
            <a:ext cx="352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a:solidFill>
                  <a:srgbClr val="C6A66A"/>
                </a:solidFill>
                <a:latin typeface="Nimbus Sans"/>
                <a:ea typeface="Nimbus Sans"/>
                <a:cs typeface="Nimbus Sans"/>
              </a:defRPr>
            </a:pPr>
            <a:r>
              <a:rPr sz="2250" b="1">
                <a:solidFill>
                  <a:srgbClr val="C6A66A"/>
                </a:solidFill>
                <a:latin typeface="Nimbus Sans"/>
                <a:ea typeface="Nimbus Sans"/>
                <a:cs typeface="Nimbus Sans"/>
              </a:rPr>
              <a:t>Agents bypass the interface</a:t>
            </a:r>
          </a:p>
        </p:txBody>
      </p:sp>
      <p:sp>
        <p:nvSpPr>
          <p:cNvPr id="4" name="">
            <a:extLst xmlns:a="http://schemas.openxmlformats.org/drawingml/2006/main">
              <a:ext uri="{FF2B5EF4-FFF2-40B4-BE49-F238E27FC236}">
                <a16:creationId xmlns:a16="http://schemas.microsoft.com/office/drawing/2014/main" id="{5581655D-BADD-4A59-A666-C9D4EFFE9502}"/>
              </a:ext>
            </a:extLst>
          </p:cNvPr>
          <p:cNvSpPr>
            <a:spLocks xmlns:a="http://schemas.openxmlformats.org/drawingml/2006/main" noGrp="1"/>
          </p:cNvSpPr>
          <p:nvPr/>
        </p:nvSpPr>
        <p:spPr>
          <a:xfrm xmlns:a="http://schemas.openxmlformats.org/drawingml/2006/main">
            <a:off x="4514850" y="2543175"/>
            <a:ext cx="67246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FCFBF7"/>
                </a:solidFill>
                <a:latin typeface="Nimbus Sans"/>
                <a:ea typeface="Nimbus Sans"/>
                <a:cs typeface="Nimbus Sans"/>
              </a:defRPr>
            </a:pPr>
            <a:r>
              <a:rPr sz="2025" b="0">
                <a:solidFill>
                  <a:srgbClr val="FCFBF7"/>
                </a:solidFill>
                <a:latin typeface="Nimbus Sans"/>
                <a:ea typeface="Nimbus Sans"/>
                <a:cs typeface="Nimbus Sans"/>
              </a:rPr>
              <a:t>The incumbent becomes a low-price data or execution layer.</a:t>
            </a:r>
          </a:p>
        </p:txBody>
      </p:sp>
      <p:sp>
        <p:nvSpPr>
          <p:cNvPr id="5" name="">
            <a:extLst xmlns:a="http://schemas.openxmlformats.org/drawingml/2006/main">
              <a:ext uri="{FF2B5EF4-FFF2-40B4-BE49-F238E27FC236}">
                <a16:creationId xmlns:a16="http://schemas.microsoft.com/office/drawing/2014/main" id="{15655CFC-41E1-4F2A-AEED-4B0ECD93B195}"/>
              </a:ext>
            </a:extLst>
          </p:cNvPr>
          <p:cNvSpPr>
            <a:spLocks xmlns:a="http://schemas.openxmlformats.org/drawingml/2006/main" noGrp="1"/>
          </p:cNvSpPr>
          <p:nvPr/>
        </p:nvSpPr>
        <p:spPr>
          <a:xfrm xmlns:a="http://schemas.openxmlformats.org/drawingml/2006/main">
            <a:off x="704850" y="3571875"/>
            <a:ext cx="352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a:solidFill>
                  <a:srgbClr val="C6A66A"/>
                </a:solidFill>
                <a:latin typeface="Nimbus Sans"/>
                <a:ea typeface="Nimbus Sans"/>
                <a:cs typeface="Nimbus Sans"/>
              </a:defRPr>
            </a:pPr>
            <a:r>
              <a:rPr sz="2250" b="1">
                <a:solidFill>
                  <a:srgbClr val="C6A66A"/>
                </a:solidFill>
                <a:latin typeface="Nimbus Sans"/>
                <a:ea typeface="Nimbus Sans"/>
                <a:cs typeface="Nimbus Sans"/>
              </a:rPr>
              <a:t>Data loses exclusivity</a:t>
            </a:r>
          </a:p>
        </p:txBody>
      </p:sp>
      <p:sp>
        <p:nvSpPr>
          <p:cNvPr id="6" name="">
            <a:extLst xmlns:a="http://schemas.openxmlformats.org/drawingml/2006/main">
              <a:ext uri="{FF2B5EF4-FFF2-40B4-BE49-F238E27FC236}">
                <a16:creationId xmlns:a16="http://schemas.microsoft.com/office/drawing/2014/main" id="{57D2B169-BF7D-447A-B096-52A985E3D25E}"/>
              </a:ext>
            </a:extLst>
          </p:cNvPr>
          <p:cNvSpPr>
            <a:spLocks xmlns:a="http://schemas.openxmlformats.org/drawingml/2006/main" noGrp="1"/>
          </p:cNvSpPr>
          <p:nvPr/>
        </p:nvSpPr>
        <p:spPr>
          <a:xfrm xmlns:a="http://schemas.openxmlformats.org/drawingml/2006/main">
            <a:off x="4514850" y="3571875"/>
            <a:ext cx="67246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FCFBF7"/>
                </a:solidFill>
                <a:latin typeface="Nimbus Sans"/>
                <a:ea typeface="Nimbus Sans"/>
                <a:cs typeface="Nimbus Sans"/>
              </a:defRPr>
            </a:pPr>
            <a:r>
              <a:rPr sz="2025" b="0">
                <a:solidFill>
                  <a:srgbClr val="FCFBF7"/>
                </a:solidFill>
                <a:latin typeface="Nimbus Sans"/>
                <a:ea typeface="Nimbus Sans"/>
                <a:cs typeface="Nimbus Sans"/>
              </a:rPr>
              <a:t>Portable or synthetic substitutes narrow the information gap.</a:t>
            </a:r>
          </a:p>
        </p:txBody>
      </p:sp>
      <p:sp>
        <p:nvSpPr>
          <p:cNvPr id="7" name="">
            <a:extLst xmlns:a="http://schemas.openxmlformats.org/drawingml/2006/main">
              <a:ext uri="{FF2B5EF4-FFF2-40B4-BE49-F238E27FC236}">
                <a16:creationId xmlns:a16="http://schemas.microsoft.com/office/drawing/2014/main" id="{B719F671-B69C-4723-AF8E-D39BCB36BEEA}"/>
              </a:ext>
            </a:extLst>
          </p:cNvPr>
          <p:cNvSpPr>
            <a:spLocks xmlns:a="http://schemas.openxmlformats.org/drawingml/2006/main" noGrp="1"/>
          </p:cNvSpPr>
          <p:nvPr/>
        </p:nvSpPr>
        <p:spPr>
          <a:xfrm xmlns:a="http://schemas.openxmlformats.org/drawingml/2006/main">
            <a:off x="704850" y="4600575"/>
            <a:ext cx="352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a:solidFill>
                  <a:srgbClr val="C6A66A"/>
                </a:solidFill>
                <a:latin typeface="Nimbus Sans"/>
                <a:ea typeface="Nimbus Sans"/>
                <a:cs typeface="Nimbus Sans"/>
              </a:defRPr>
            </a:pPr>
            <a:r>
              <a:rPr sz="2250" b="1">
                <a:solidFill>
                  <a:srgbClr val="C6A66A"/>
                </a:solidFill>
                <a:latin typeface="Nimbus Sans"/>
                <a:ea typeface="Nimbus Sans"/>
                <a:cs typeface="Nimbus Sans"/>
              </a:rPr>
              <a:t>Productivity passes through</a:t>
            </a:r>
          </a:p>
        </p:txBody>
      </p:sp>
      <p:sp>
        <p:nvSpPr>
          <p:cNvPr id="8" name="">
            <a:extLst xmlns:a="http://schemas.openxmlformats.org/drawingml/2006/main">
              <a:ext uri="{FF2B5EF4-FFF2-40B4-BE49-F238E27FC236}">
                <a16:creationId xmlns:a16="http://schemas.microsoft.com/office/drawing/2014/main" id="{1CFD997F-F784-4735-9E8A-D7AE4BB065F1}"/>
              </a:ext>
            </a:extLst>
          </p:cNvPr>
          <p:cNvSpPr>
            <a:spLocks xmlns:a="http://schemas.openxmlformats.org/drawingml/2006/main" noGrp="1"/>
          </p:cNvSpPr>
          <p:nvPr/>
        </p:nvSpPr>
        <p:spPr>
          <a:xfrm xmlns:a="http://schemas.openxmlformats.org/drawingml/2006/main">
            <a:off x="4514850" y="4600575"/>
            <a:ext cx="67246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FCFBF7"/>
                </a:solidFill>
                <a:latin typeface="Nimbus Sans"/>
                <a:ea typeface="Nimbus Sans"/>
                <a:cs typeface="Nimbus Sans"/>
              </a:defRPr>
            </a:pPr>
            <a:r>
              <a:rPr sz="2025" b="0">
                <a:solidFill>
                  <a:srgbClr val="FCFBF7"/>
                </a:solidFill>
                <a:latin typeface="Nimbus Sans"/>
                <a:ea typeface="Nimbus Sans"/>
                <a:cs typeface="Nimbus Sans"/>
              </a:rPr>
              <a:t>Customers, employees or suppliers retain the benefit.</a:t>
            </a:r>
          </a:p>
        </p:txBody>
      </p:sp>
      <p:sp>
        <p:nvSpPr>
          <p:cNvPr id="9" name="">
            <a:extLst xmlns:a="http://schemas.openxmlformats.org/drawingml/2006/main">
              <a:ext uri="{FF2B5EF4-FFF2-40B4-BE49-F238E27FC236}">
                <a16:creationId xmlns:a16="http://schemas.microsoft.com/office/drawing/2014/main" id="{5DC4393C-1105-416C-A07D-1BAB124C5F57}"/>
              </a:ext>
            </a:extLst>
          </p:cNvPr>
          <p:cNvSpPr>
            <a:spLocks xmlns:a="http://schemas.openxmlformats.org/drawingml/2006/main" noGrp="1"/>
          </p:cNvSpPr>
          <p:nvPr/>
        </p:nvSpPr>
        <p:spPr>
          <a:xfrm xmlns:a="http://schemas.openxmlformats.org/drawingml/2006/main">
            <a:off x="704850" y="5953125"/>
            <a:ext cx="10620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C6A66A"/>
                </a:solidFill>
                <a:latin typeface="Nimbus Sans"/>
                <a:ea typeface="Nimbus Sans"/>
                <a:cs typeface="Nimbus Sans"/>
              </a:defRPr>
            </a:pPr>
            <a:r>
              <a:rPr sz="1875" b="1">
                <a:solidFill>
                  <a:srgbClr val="C6A66A"/>
                </a:solidFill>
                <a:latin typeface="Nimbus Sans"/>
                <a:ea typeface="Nimbus Sans"/>
                <a:cs typeface="Nimbus Sans"/>
              </a:rPr>
              <a:t>A framework that calls every incumbent an AI winner has failed.</a:t>
            </a:r>
          </a:p>
        </p:txBody>
      </p:sp>
    </p:spTree>
    <p:extLst>
      <p:ext uri="{BB962C8B-B14F-4D97-AF65-F5344CB8AC3E}">
        <p14:creationId xmlns:p14="http://schemas.microsoft.com/office/powerpoint/2010/main" val="1266218600"/>
      </p:ext>
    </p:extLst>
  </p:cSld>
</p:sld>
</file>

<file path=ppt/slides/slide14.xml><?xml version="1.0" encoding="utf-8"?>
<p:sld xmlns:p="http://schemas.openxmlformats.org/presentationml/2006/main">
  <p:cSld>
    <p:bg>
      <p:bgPr>
        <a:solidFill xmlns:a="http://schemas.openxmlformats.org/drawingml/2006/main">
          <a:srgbClr val="F3F0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8A394E4-C5C3-4607-8992-F4DF5E510FC7}"/>
              </a:ext>
            </a:extLst>
          </p:cNvPr>
          <p:cNvSpPr>
            <a:spLocks xmlns:a="http://schemas.openxmlformats.org/drawingml/2006/main" noGrp="1"/>
          </p:cNvSpPr>
          <p:nvPr/>
        </p:nvSpPr>
        <p:spPr>
          <a:xfrm xmlns:a="http://schemas.openxmlformats.org/drawingml/2006/main">
            <a:off x="666750" y="552450"/>
            <a:ext cx="107632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525" b="1">
                <a:solidFill>
                  <a:srgbClr val="14191B"/>
                </a:solidFill>
                <a:latin typeface="Nimbus Sans"/>
                <a:ea typeface="Nimbus Sans"/>
                <a:cs typeface="Nimbus Sans"/>
              </a:defRPr>
            </a:pPr>
            <a:r>
              <a:rPr sz="3525" b="1">
                <a:solidFill>
                  <a:srgbClr val="14191B"/>
                </a:solidFill>
                <a:latin typeface="Nimbus Sans"/>
                <a:ea typeface="Nimbus Sans"/>
                <a:cs typeface="Nimbus Sans"/>
              </a:rPr>
              <a:t>Conviction follows operating proof</a:t>
            </a:r>
          </a:p>
        </p:txBody>
      </p:sp>
      <p:sp>
        <p:nvSpPr>
          <p:cNvPr id="2" name="">
            <a:extLst xmlns:a="http://schemas.openxmlformats.org/drawingml/2006/main">
              <a:ext uri="{FF2B5EF4-FFF2-40B4-BE49-F238E27FC236}">
                <a16:creationId xmlns:a16="http://schemas.microsoft.com/office/drawing/2014/main" id="{96D839ED-509E-42EB-A7B6-2E81F2AF96CA}"/>
              </a:ext>
            </a:extLst>
          </p:cNvPr>
          <p:cNvSpPr>
            <a:spLocks xmlns:a="http://schemas.openxmlformats.org/drawingml/2006/main" noGrp="1"/>
          </p:cNvSpPr>
          <p:nvPr/>
        </p:nvSpPr>
        <p:spPr>
          <a:xfrm xmlns:a="http://schemas.openxmlformats.org/drawingml/2006/main">
            <a:off x="685800" y="1619250"/>
            <a:ext cx="10572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626A6B"/>
                </a:solidFill>
                <a:latin typeface="Nimbus Sans"/>
                <a:ea typeface="Nimbus Sans"/>
                <a:cs typeface="Nimbus Sans"/>
              </a:defRPr>
            </a:pPr>
            <a:r>
              <a:rPr sz="1875" b="0">
                <a:solidFill>
                  <a:srgbClr val="626A6B"/>
                </a:solidFill>
                <a:latin typeface="Nimbus Sans"/>
                <a:ea typeface="Nimbus Sans"/>
                <a:cs typeface="Nimbus Sans"/>
              </a:rPr>
              <a:t>The thesis can be ambitious while the investment standard remains strict.</a:t>
            </a:r>
          </a:p>
        </p:txBody>
      </p:sp>
      <p:sp>
        <p:nvSpPr>
          <p:cNvPr id="3" name="">
            <a:extLst xmlns:a="http://schemas.openxmlformats.org/drawingml/2006/main">
              <a:ext uri="{FF2B5EF4-FFF2-40B4-BE49-F238E27FC236}">
                <a16:creationId xmlns:a16="http://schemas.microsoft.com/office/drawing/2014/main" id="{8F2E389C-0A6D-4DFB-967F-5921B5114717}"/>
              </a:ext>
            </a:extLst>
          </p:cNvPr>
          <p:cNvSpPr>
            <a:spLocks xmlns:a="http://schemas.openxmlformats.org/drawingml/2006/main" noGrp="1"/>
          </p:cNvSpPr>
          <p:nvPr/>
        </p:nvSpPr>
        <p:spPr>
          <a:xfrm xmlns:a="http://schemas.openxmlformats.org/drawingml/2006/main">
            <a:off x="11191875" y="6334125"/>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626A6B"/>
                </a:solidFill>
                <a:latin typeface="Nimbus Sans"/>
                <a:ea typeface="Nimbus Sans"/>
                <a:cs typeface="Nimbus Sans"/>
              </a:defRPr>
            </a:pPr>
            <a:r>
              <a:rPr sz="1275" b="0">
                <a:solidFill>
                  <a:srgbClr val="626A6B"/>
                </a:solidFill>
                <a:latin typeface="Nimbus Sans"/>
                <a:ea typeface="Nimbus Sans"/>
                <a:cs typeface="Nimbus Sans"/>
              </a:rPr>
              <a:t>14</a:t>
            </a:r>
          </a:p>
        </p:txBody>
      </p:sp>
      <p:graphicFrame>
        <p:nvGraphicFramePr>
          <p:cNvPr id="9" name=""/>
          <p:cNvGraphicFramePr/>
          <p:nvPr/>
        </p:nvGraphicFramePr>
        <p:xfrm>
          <a:off xmlns:a="http://schemas.openxmlformats.org/drawingml/2006/main" x="685800" y="2543175"/>
          <a:ext xmlns:a="http://schemas.openxmlformats.org/drawingml/2006/main" cx="10820400" cy="3057525"/>
        </p:xfrm>
        <a:graphic xmlns:a="http://schemas.openxmlformats.org/drawingml/2006/main">
          <a:graphicData uri="http://schemas.openxmlformats.org/drawingml/2006/table">
            <a:tbl>
              <a:tblPr firstRow="0" bandRow="0"/>
              <a:tblGrid>
                <a:gridCol w="2857500"/>
                <a:gridCol w="7962900"/>
              </a:tblGrid>
              <a:tr h="476250">
                <a:tc>
                  <a:txBody>
                    <a:bodyPr/>
                    <a:lstStyle/>
                    <a:p>
                      <a:r>
                        <a:rPr sz="1500" b="1">
                          <a:solidFill>
                            <a:srgbClr val="FCFBF7"/>
                          </a:solidFill>
                          <a:latin typeface="Nimbus Sans"/>
                          <a:ea typeface="Nimbus Sans"/>
                          <a:cs typeface="Nimbus Sans"/>
                        </a:rPr>
                        <a:t>Gate</a:t>
                      </a:r>
                    </a:p>
                  </a:txBody>
                  <a:tcPr marL="91440" marR="91440" marT="45720" marB="45720">
                    <a:solidFill>
                      <a:srgbClr val="14191B"/>
                    </a:solidFill>
                  </a:tcPr>
                </a:tc>
                <a:tc>
                  <a:txBody>
                    <a:bodyPr/>
                    <a:lstStyle/>
                    <a:p>
                      <a:r>
                        <a:rPr sz="1500" b="1">
                          <a:solidFill>
                            <a:srgbClr val="FCFBF7"/>
                          </a:solidFill>
                          <a:latin typeface="Nimbus Sans"/>
                          <a:ea typeface="Nimbus Sans"/>
                          <a:cs typeface="Nimbus Sans"/>
                        </a:rPr>
                        <a:t>Evidence that advances the candidate</a:t>
                      </a:r>
                    </a:p>
                  </a:txBody>
                  <a:tcPr marL="91440" marR="91440" marT="45720" marB="45720">
                    <a:solidFill>
                      <a:srgbClr val="14191B"/>
                    </a:solidFill>
                  </a:tcPr>
                </a:tc>
              </a:tr>
              <a:tr h="645319">
                <a:tc>
                  <a:txBody>
                    <a:bodyPr/>
                    <a:lstStyle/>
                    <a:p>
                      <a:r>
                        <a:rPr sz="2025" b="0">
                          <a:solidFill>
                            <a:srgbClr val="14191B"/>
                          </a:solidFill>
                          <a:latin typeface="Nimbus Sans"/>
                          <a:ea typeface="Nimbus Sans"/>
                          <a:cs typeface="Nimbus Sans"/>
                        </a:rPr>
                        <a:t>Business quality</a:t>
                      </a:r>
                    </a:p>
                  </a:txBody>
                  <a:tcPr marL="91440" marR="91440" marT="45720" marB="45720">
                    <a:solidFill>
                      <a:srgbClr val="F3F0E8"/>
                    </a:solidFill>
                  </a:tcPr>
                </a:tc>
                <a:tc>
                  <a:txBody>
                    <a:bodyPr/>
                    <a:lstStyle/>
                    <a:p>
                      <a:r>
                        <a:rPr sz="2025" b="0">
                          <a:solidFill>
                            <a:srgbClr val="14191B"/>
                          </a:solidFill>
                          <a:latin typeface="Nimbus Sans"/>
                          <a:ea typeface="Nimbus Sans"/>
                          <a:cs typeface="Nimbus Sans"/>
                        </a:rPr>
                        <a:t>Durable economics, financial resilience and usable assets</a:t>
                      </a:r>
                    </a:p>
                  </a:txBody>
                  <a:tcPr marL="91440" marR="91440" marT="45720" marB="45720">
                    <a:solidFill>
                      <a:srgbClr val="F3F0E8"/>
                    </a:solidFill>
                  </a:tcPr>
                </a:tc>
              </a:tr>
              <a:tr h="645319">
                <a:tc>
                  <a:txBody>
                    <a:bodyPr/>
                    <a:lstStyle/>
                    <a:p>
                      <a:r>
                        <a:rPr sz="2025" b="0">
                          <a:solidFill>
                            <a:srgbClr val="14191B"/>
                          </a:solidFill>
                          <a:latin typeface="Nimbus Sans"/>
                          <a:ea typeface="Nimbus Sans"/>
                          <a:cs typeface="Nimbus Sans"/>
                        </a:rPr>
                        <a:t>Operating advantage</a:t>
                      </a:r>
                    </a:p>
                  </a:txBody>
                  <a:tcPr marL="91440" marR="91440" marT="45720" marB="45720">
                    <a:solidFill>
                      <a:srgbClr val="F3F0E8"/>
                    </a:solidFill>
                  </a:tcPr>
                </a:tc>
                <a:tc>
                  <a:txBody>
                    <a:bodyPr/>
                    <a:lstStyle/>
                    <a:p>
                      <a:r>
                        <a:rPr sz="2025" b="0">
                          <a:solidFill>
                            <a:srgbClr val="14191B"/>
                          </a:solidFill>
                          <a:latin typeface="Nimbus Sans"/>
                          <a:ea typeface="Nimbus Sans"/>
                          <a:cs typeface="Nimbus Sans"/>
                        </a:rPr>
                        <a:t>Material deployment and a defensible comparison</a:t>
                      </a:r>
                    </a:p>
                  </a:txBody>
                  <a:tcPr marL="91440" marR="91440" marT="45720" marB="45720">
                    <a:solidFill>
                      <a:srgbClr val="F3F0E8"/>
                    </a:solidFill>
                  </a:tcPr>
                </a:tc>
              </a:tr>
              <a:tr h="645319">
                <a:tc>
                  <a:txBody>
                    <a:bodyPr/>
                    <a:lstStyle/>
                    <a:p>
                      <a:r>
                        <a:rPr sz="2025" b="0">
                          <a:solidFill>
                            <a:srgbClr val="14191B"/>
                          </a:solidFill>
                          <a:latin typeface="Nimbus Sans"/>
                          <a:ea typeface="Nimbus Sans"/>
                          <a:cs typeface="Nimbus Sans"/>
                        </a:rPr>
                        <a:t>Economic capture</a:t>
                      </a:r>
                    </a:p>
                  </a:txBody>
                  <a:tcPr marL="91440" marR="91440" marT="45720" marB="45720">
                    <a:solidFill>
                      <a:srgbClr val="F3F0E8"/>
                    </a:solidFill>
                  </a:tcPr>
                </a:tc>
                <a:tc>
                  <a:txBody>
                    <a:bodyPr/>
                    <a:lstStyle/>
                    <a:p>
                      <a:r>
                        <a:rPr sz="2025" b="0">
                          <a:solidFill>
                            <a:srgbClr val="14191B"/>
                          </a:solidFill>
                          <a:latin typeface="Nimbus Sans"/>
                          <a:ea typeface="Nimbus Sans"/>
                          <a:cs typeface="Nimbus Sans"/>
                        </a:rPr>
                        <a:t>Incremental cash earnings after all relevant costs</a:t>
                      </a:r>
                    </a:p>
                  </a:txBody>
                  <a:tcPr marL="91440" marR="91440" marT="45720" marB="45720">
                    <a:solidFill>
                      <a:srgbClr val="F3F0E8"/>
                    </a:solidFill>
                  </a:tcPr>
                </a:tc>
              </a:tr>
              <a:tr h="645319">
                <a:tc>
                  <a:txBody>
                    <a:bodyPr/>
                    <a:lstStyle/>
                    <a:p>
                      <a:r>
                        <a:rPr sz="2025" b="0">
                          <a:solidFill>
                            <a:srgbClr val="14191B"/>
                          </a:solidFill>
                          <a:latin typeface="Nimbus Sans"/>
                          <a:ea typeface="Nimbus Sans"/>
                          <a:cs typeface="Nimbus Sans"/>
                        </a:rPr>
                        <a:t>Valuation and portfolio</a:t>
                      </a:r>
                    </a:p>
                  </a:txBody>
                  <a:tcPr marL="91440" marR="91440" marT="45720" marB="45720">
                    <a:solidFill>
                      <a:srgbClr val="F3F0E8"/>
                    </a:solidFill>
                  </a:tcPr>
                </a:tc>
                <a:tc>
                  <a:txBody>
                    <a:bodyPr/>
                    <a:lstStyle/>
                    <a:p>
                      <a:r>
                        <a:rPr sz="2025" b="0">
                          <a:solidFill>
                            <a:srgbClr val="14191B"/>
                          </a:solidFill>
                          <a:latin typeface="Nimbus Sans"/>
                          <a:ea typeface="Nimbus Sans"/>
                          <a:cs typeface="Nimbus Sans"/>
                        </a:rPr>
                        <a:t>Adequate expected return with downside and overlap reviewed</a:t>
                      </a:r>
                    </a:p>
                  </a:txBody>
                  <a:tcPr marL="91440" marR="91440" marT="45720" marB="45720">
                    <a:solidFill>
                      <a:srgbClr val="F3F0E8"/>
                    </a:solidFill>
                  </a:tcPr>
                </a:tc>
              </a:tr>
            </a:tbl>
          </a:graphicData>
        </a:graphic>
      </p:graphicFrame>
      <p:sp>
        <p:nvSpPr>
          <p:cNvPr id="5" name="">
            <a:extLst xmlns:a="http://schemas.openxmlformats.org/drawingml/2006/main">
              <a:ext uri="{FF2B5EF4-FFF2-40B4-BE49-F238E27FC236}">
                <a16:creationId xmlns:a16="http://schemas.microsoft.com/office/drawing/2014/main" id="{F42CE34B-8086-476C-AF35-8AB6DC8639B5}"/>
              </a:ext>
            </a:extLst>
          </p:cNvPr>
          <p:cNvSpPr>
            <a:spLocks xmlns:a="http://schemas.openxmlformats.org/drawingml/2006/main" noGrp="1"/>
          </p:cNvSpPr>
          <p:nvPr/>
        </p:nvSpPr>
        <p:spPr>
          <a:xfrm xmlns:a="http://schemas.openxmlformats.org/drawingml/2006/main">
            <a:off x="704850" y="598170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527D70"/>
                </a:solidFill>
                <a:latin typeface="Nimbus Sans"/>
                <a:ea typeface="Nimbus Sans"/>
                <a:cs typeface="Nimbus Sans"/>
              </a:defRPr>
            </a:pPr>
            <a:r>
              <a:rPr sz="1875" b="1">
                <a:solidFill>
                  <a:srgbClr val="527D70"/>
                </a:solidFill>
                <a:latin typeface="Nimbus Sans"/>
                <a:ea typeface="Nimbus Sans"/>
                <a:cs typeface="Nimbus Sans"/>
              </a:rPr>
              <a:t>The next decision: which companies pass these gates at an attractive price?</a:t>
            </a:r>
          </a:p>
        </p:txBody>
      </p:sp>
    </p:spTree>
    <p:extLst>
      <p:ext uri="{BB962C8B-B14F-4D97-AF65-F5344CB8AC3E}">
        <p14:creationId xmlns:p14="http://schemas.microsoft.com/office/powerpoint/2010/main" val="1758958870"/>
      </p:ext>
    </p:extLst>
  </p:cSld>
</p:sld>
</file>

<file path=ppt/slides/slide15.xml><?xml version="1.0" encoding="utf-8"?>
<p:sld xmlns:p="http://schemas.openxmlformats.org/presentationml/2006/main">
  <p:cSld>
    <p:bg>
      <p:bgPr>
        <a:solidFill xmlns:a="http://schemas.openxmlformats.org/drawingml/2006/main">
          <a:srgbClr val="14191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ACFC1E4-B2DB-449C-A7E4-E4D7E406E8BD}"/>
              </a:ext>
            </a:extLst>
          </p:cNvPr>
          <p:cNvSpPr>
            <a:spLocks xmlns:a="http://schemas.openxmlformats.org/drawingml/2006/main" noGrp="1"/>
          </p:cNvSpPr>
          <p:nvPr/>
        </p:nvSpPr>
        <p:spPr>
          <a:xfrm xmlns:a="http://schemas.openxmlformats.org/drawingml/2006/main">
            <a:off x="666750" y="552450"/>
            <a:ext cx="107632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525" b="1">
                <a:solidFill>
                  <a:srgbClr val="FCFBF7"/>
                </a:solidFill>
                <a:latin typeface="Nimbus Sans"/>
                <a:ea typeface="Nimbus Sans"/>
                <a:cs typeface="Nimbus Sans"/>
              </a:defRPr>
            </a:pPr>
            <a:r>
              <a:rPr sz="3525" b="1">
                <a:solidFill>
                  <a:srgbClr val="FCFBF7"/>
                </a:solidFill>
                <a:latin typeface="Nimbus Sans"/>
                <a:ea typeface="Nimbus Sans"/>
                <a:cs typeface="Nimbus Sans"/>
              </a:rPr>
              <a:t>AI productivity is an</a:t>
            </a:r>
          </a:p>
          <a:p xmlns:a="http://schemas.openxmlformats.org/drawingml/2006/main">
            <a:pPr>
              <a:defRPr sz="3525" b="1">
                <a:solidFill>
                  <a:srgbClr val="FCFBF7"/>
                </a:solidFill>
                <a:latin typeface="Nimbus Sans"/>
                <a:ea typeface="Nimbus Sans"/>
                <a:cs typeface="Nimbus Sans"/>
              </a:defRPr>
            </a:pPr>
            <a:r>
              <a:rPr sz="3525" b="1">
                <a:solidFill>
                  <a:srgbClr val="FCFBF7"/>
                </a:solidFill>
                <a:latin typeface="Nimbus Sans"/>
                <a:ea typeface="Nimbus Sans"/>
                <a:cs typeface="Nimbus Sans"/>
              </a:rPr>
              <a:t>ownership question</a:t>
            </a:r>
          </a:p>
        </p:txBody>
      </p:sp>
      <p:sp>
        <p:nvSpPr>
          <p:cNvPr id="2" name="">
            <a:extLst xmlns:a="http://schemas.openxmlformats.org/drawingml/2006/main">
              <a:ext uri="{FF2B5EF4-FFF2-40B4-BE49-F238E27FC236}">
                <a16:creationId xmlns:a16="http://schemas.microsoft.com/office/drawing/2014/main" id="{C3F16F2F-951B-411E-B92E-551F364A5874}"/>
              </a:ext>
            </a:extLst>
          </p:cNvPr>
          <p:cNvSpPr>
            <a:spLocks xmlns:a="http://schemas.openxmlformats.org/drawingml/2006/main" noGrp="1"/>
          </p:cNvSpPr>
          <p:nvPr/>
        </p:nvSpPr>
        <p:spPr>
          <a:xfrm xmlns:a="http://schemas.openxmlformats.org/drawingml/2006/main">
            <a:off x="11191875" y="6334125"/>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B9C0BE"/>
                </a:solidFill>
                <a:latin typeface="Nimbus Sans"/>
                <a:ea typeface="Nimbus Sans"/>
                <a:cs typeface="Nimbus Sans"/>
              </a:defRPr>
            </a:pPr>
            <a:r>
              <a:rPr sz="1275" b="0">
                <a:solidFill>
                  <a:srgbClr val="B9C0BE"/>
                </a:solidFill>
                <a:latin typeface="Nimbus Sans"/>
                <a:ea typeface="Nimbus Sans"/>
                <a:cs typeface="Nimbus Sans"/>
              </a:rPr>
              <a:t>15</a:t>
            </a:r>
          </a:p>
        </p:txBody>
      </p:sp>
      <p:sp>
        <p:nvSpPr>
          <p:cNvPr id="3" name="">
            <a:extLst xmlns:a="http://schemas.openxmlformats.org/drawingml/2006/main">
              <a:ext uri="{FF2B5EF4-FFF2-40B4-BE49-F238E27FC236}">
                <a16:creationId xmlns:a16="http://schemas.microsoft.com/office/drawing/2014/main" id="{8CD67C64-BDC6-420B-9826-E9F3A80DE0CB}"/>
              </a:ext>
            </a:extLst>
          </p:cNvPr>
          <p:cNvSpPr>
            <a:spLocks xmlns:a="http://schemas.openxmlformats.org/drawingml/2006/main" noGrp="1"/>
          </p:cNvSpPr>
          <p:nvPr/>
        </p:nvSpPr>
        <p:spPr>
          <a:xfrm xmlns:a="http://schemas.openxmlformats.org/drawingml/2006/main">
            <a:off x="723900" y="268605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075" b="0">
                <a:solidFill>
                  <a:srgbClr val="FCFBF7"/>
                </a:solidFill>
                <a:latin typeface="Nimbus Sans"/>
                <a:ea typeface="Nimbus Sans"/>
                <a:cs typeface="Nimbus Sans"/>
              </a:defRPr>
            </a:pPr>
            <a:r>
              <a:rPr sz="3075" b="0">
                <a:solidFill>
                  <a:srgbClr val="FCFBF7"/>
                </a:solidFill>
                <a:latin typeface="Nimbus Sans"/>
                <a:ea typeface="Nimbus Sans"/>
                <a:cs typeface="Nimbus Sans"/>
              </a:rPr>
              <a:t>Who owns the scarce asset?</a:t>
            </a:r>
          </a:p>
        </p:txBody>
      </p:sp>
      <p:sp>
        <p:nvSpPr>
          <p:cNvPr id="4" name="">
            <a:extLst xmlns:a="http://schemas.openxmlformats.org/drawingml/2006/main">
              <a:ext uri="{FF2B5EF4-FFF2-40B4-BE49-F238E27FC236}">
                <a16:creationId xmlns:a16="http://schemas.microsoft.com/office/drawing/2014/main" id="{103174A8-90DB-4BFF-8CC6-B9EFFB893CD5}"/>
              </a:ext>
            </a:extLst>
          </p:cNvPr>
          <p:cNvSpPr>
            <a:spLocks xmlns:a="http://schemas.openxmlformats.org/drawingml/2006/main" noGrp="1"/>
          </p:cNvSpPr>
          <p:nvPr/>
        </p:nvSpPr>
        <p:spPr>
          <a:xfrm xmlns:a="http://schemas.openxmlformats.org/drawingml/2006/main">
            <a:off x="723900" y="3590925"/>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075" b="0">
                <a:solidFill>
                  <a:srgbClr val="FCFBF7"/>
                </a:solidFill>
                <a:latin typeface="Nimbus Sans"/>
                <a:ea typeface="Nimbus Sans"/>
                <a:cs typeface="Nimbus Sans"/>
              </a:defRPr>
            </a:pPr>
            <a:r>
              <a:rPr sz="3075" b="0">
                <a:solidFill>
                  <a:srgbClr val="FCFBF7"/>
                </a:solidFill>
                <a:latin typeface="Nimbus Sans"/>
                <a:ea typeface="Nimbus Sans"/>
                <a:cs typeface="Nimbus Sans"/>
              </a:rPr>
              <a:t>Who can make it more productive?</a:t>
            </a:r>
          </a:p>
        </p:txBody>
      </p:sp>
      <p:sp>
        <p:nvSpPr>
          <p:cNvPr id="5" name="">
            <a:extLst xmlns:a="http://schemas.openxmlformats.org/drawingml/2006/main">
              <a:ext uri="{FF2B5EF4-FFF2-40B4-BE49-F238E27FC236}">
                <a16:creationId xmlns:a16="http://schemas.microsoft.com/office/drawing/2014/main" id="{9539707E-53AC-454C-A346-885086099E59}"/>
              </a:ext>
            </a:extLst>
          </p:cNvPr>
          <p:cNvSpPr>
            <a:spLocks xmlns:a="http://schemas.openxmlformats.org/drawingml/2006/main" noGrp="1"/>
          </p:cNvSpPr>
          <p:nvPr/>
        </p:nvSpPr>
        <p:spPr>
          <a:xfrm xmlns:a="http://schemas.openxmlformats.org/drawingml/2006/main">
            <a:off x="723900" y="449580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075" b="1">
                <a:solidFill>
                  <a:srgbClr val="C6A66A"/>
                </a:solidFill>
                <a:latin typeface="Nimbus Sans"/>
                <a:ea typeface="Nimbus Sans"/>
                <a:cs typeface="Nimbus Sans"/>
              </a:defRPr>
            </a:pPr>
            <a:r>
              <a:rPr sz="3075" b="1">
                <a:solidFill>
                  <a:srgbClr val="C6A66A"/>
                </a:solidFill>
                <a:latin typeface="Nimbus Sans"/>
                <a:ea typeface="Nimbus Sans"/>
                <a:cs typeface="Nimbus Sans"/>
              </a:rPr>
              <a:t>Who keeps the economic gain?</a:t>
            </a:r>
          </a:p>
        </p:txBody>
      </p:sp>
      <p:sp>
        <p:nvSpPr>
          <p:cNvPr id="6" name="">
            <a:extLst xmlns:a="http://schemas.openxmlformats.org/drawingml/2006/main">
              <a:ext uri="{FF2B5EF4-FFF2-40B4-BE49-F238E27FC236}">
                <a16:creationId xmlns:a16="http://schemas.microsoft.com/office/drawing/2014/main" id="{0F71D8A0-B585-47FF-8D72-EE50436E2280}"/>
              </a:ext>
            </a:extLst>
          </p:cNvPr>
          <p:cNvSpPr>
            <a:spLocks xmlns:a="http://schemas.openxmlformats.org/drawingml/2006/main" noGrp="1"/>
          </p:cNvSpPr>
          <p:nvPr/>
        </p:nvSpPr>
        <p:spPr>
          <a:xfrm xmlns:a="http://schemas.openxmlformats.org/drawingml/2006/main">
            <a:off x="723900" y="5648325"/>
            <a:ext cx="10525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B9C0BE"/>
                </a:solidFill>
                <a:latin typeface="Nimbus Sans"/>
                <a:ea typeface="Nimbus Sans"/>
                <a:cs typeface="Nimbus Sans"/>
              </a:defRPr>
            </a:pPr>
            <a:r>
              <a:rPr sz="1950" b="0">
                <a:solidFill>
                  <a:srgbClr val="B9C0BE"/>
                </a:solidFill>
                <a:latin typeface="Nimbus Sans"/>
                <a:ea typeface="Nimbus Sans"/>
                <a:cs typeface="Nimbus Sans"/>
              </a:rPr>
              <a:t>The research begins with 100 candidates.</a:t>
            </a:r>
          </a:p>
          <a:p xmlns:a="http://schemas.openxmlformats.org/drawingml/2006/main">
            <a:pPr>
              <a:defRPr sz="1950" b="0">
                <a:solidFill>
                  <a:srgbClr val="B9C0BE"/>
                </a:solidFill>
                <a:latin typeface="Nimbus Sans"/>
                <a:ea typeface="Nimbus Sans"/>
                <a:cs typeface="Nimbus Sans"/>
              </a:defRPr>
            </a:pPr>
            <a:r>
              <a:rPr sz="1950" b="0">
                <a:solidFill>
                  <a:srgbClr val="B9C0BE"/>
                </a:solidFill>
                <a:latin typeface="Nimbus Sans"/>
                <a:ea typeface="Nimbus Sans"/>
                <a:cs typeface="Nimbus Sans"/>
              </a:rPr>
              <a:t>The portfolio will depend on the answers.</a:t>
            </a:r>
          </a:p>
        </p:txBody>
      </p:sp>
    </p:spTree>
    <p:extLst>
      <p:ext uri="{BB962C8B-B14F-4D97-AF65-F5344CB8AC3E}">
        <p14:creationId xmlns:p14="http://schemas.microsoft.com/office/powerpoint/2010/main" val="208411999"/>
      </p:ext>
    </p:extLst>
  </p:cSld>
</p:sld>
</file>

<file path=ppt/slides/slide16.xml><?xml version="1.0" encoding="utf-8"?>
<p:sld xmlns:p="http://schemas.openxmlformats.org/presentationml/2006/main">
  <p:cSld>
    <p:bg>
      <p:bgPr>
        <a:solidFill xmlns:a="http://schemas.openxmlformats.org/drawingml/2006/main">
          <a:srgbClr val="F3F0E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EB563B6-D59C-4F0A-ADE6-C2EF51FFC307}"/>
              </a:ext>
            </a:extLst>
          </p:cNvPr>
          <p:cNvSpPr>
            <a:spLocks xmlns:a="http://schemas.openxmlformats.org/drawingml/2006/main" noGrp="1"/>
          </p:cNvSpPr>
          <p:nvPr/>
        </p:nvSpPr>
        <p:spPr>
          <a:xfrm xmlns:a="http://schemas.openxmlformats.org/drawingml/2006/main">
            <a:off x="666750" y="552450"/>
            <a:ext cx="107632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525" b="1">
                <a:solidFill>
                  <a:srgbClr val="14191B"/>
                </a:solidFill>
                <a:latin typeface="Nimbus Sans"/>
                <a:ea typeface="Nimbus Sans"/>
                <a:cs typeface="Nimbus Sans"/>
              </a:defRPr>
            </a:pPr>
            <a:r>
              <a:rPr sz="3525" b="1">
                <a:solidFill>
                  <a:srgbClr val="14191B"/>
                </a:solidFill>
                <a:latin typeface="Nimbus Sans"/>
                <a:ea typeface="Nimbus Sans"/>
                <a:cs typeface="Nimbus Sans"/>
              </a:rPr>
              <a:t>Evidence and research access</a:t>
            </a:r>
          </a:p>
        </p:txBody>
      </p:sp>
      <p:sp>
        <p:nvSpPr>
          <p:cNvPr id="2" name="">
            <a:extLst xmlns:a="http://schemas.openxmlformats.org/drawingml/2006/main">
              <a:ext uri="{FF2B5EF4-FFF2-40B4-BE49-F238E27FC236}">
                <a16:creationId xmlns:a16="http://schemas.microsoft.com/office/drawing/2014/main" id="{A528F09F-8EDC-47AB-8848-E949611E656B}"/>
              </a:ext>
            </a:extLst>
          </p:cNvPr>
          <p:cNvSpPr>
            <a:spLocks xmlns:a="http://schemas.openxmlformats.org/drawingml/2006/main" noGrp="1"/>
          </p:cNvSpPr>
          <p:nvPr/>
        </p:nvSpPr>
        <p:spPr>
          <a:xfrm xmlns:a="http://schemas.openxmlformats.org/drawingml/2006/main">
            <a:off x="685800" y="1619250"/>
            <a:ext cx="10572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626A6B"/>
                </a:solidFill>
                <a:latin typeface="Nimbus Sans"/>
                <a:ea typeface="Nimbus Sans"/>
                <a:cs typeface="Nimbus Sans"/>
              </a:defRPr>
            </a:pPr>
            <a:r>
              <a:rPr sz="1875" b="0">
                <a:solidFill>
                  <a:srgbClr val="626A6B"/>
                </a:solidFill>
                <a:latin typeface="Nimbus Sans"/>
                <a:ea typeface="Nimbus Sans"/>
                <a:cs typeface="Nimbus Sans"/>
              </a:rPr>
              <a:t>Source links and qualifications accompany the relevant slides in speaker notes.</a:t>
            </a:r>
          </a:p>
        </p:txBody>
      </p:sp>
      <p:sp>
        <p:nvSpPr>
          <p:cNvPr id="3" name="">
            <a:extLst xmlns:a="http://schemas.openxmlformats.org/drawingml/2006/main">
              <a:ext uri="{FF2B5EF4-FFF2-40B4-BE49-F238E27FC236}">
                <a16:creationId xmlns:a16="http://schemas.microsoft.com/office/drawing/2014/main" id="{F33CD9C3-782D-4941-817A-E9B3EA6325F0}"/>
              </a:ext>
            </a:extLst>
          </p:cNvPr>
          <p:cNvSpPr>
            <a:spLocks xmlns:a="http://schemas.openxmlformats.org/drawingml/2006/main" noGrp="1"/>
          </p:cNvSpPr>
          <p:nvPr/>
        </p:nvSpPr>
        <p:spPr>
          <a:xfrm xmlns:a="http://schemas.openxmlformats.org/drawingml/2006/main">
            <a:off x="11191875" y="6334125"/>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626A6B"/>
                </a:solidFill>
                <a:latin typeface="Nimbus Sans"/>
                <a:ea typeface="Nimbus Sans"/>
                <a:cs typeface="Nimbus Sans"/>
              </a:defRPr>
            </a:pPr>
            <a:r>
              <a:rPr sz="1275" b="0">
                <a:solidFill>
                  <a:srgbClr val="626A6B"/>
                </a:solidFill>
                <a:latin typeface="Nimbus Sans"/>
                <a:ea typeface="Nimbus Sans"/>
                <a:cs typeface="Nimbus Sans"/>
              </a:rPr>
              <a:t>16</a:t>
            </a:r>
          </a:p>
        </p:txBody>
      </p:sp>
      <p:sp>
        <p:nvSpPr>
          <p:cNvPr id="4" name="">
            <a:extLst xmlns:a="http://schemas.openxmlformats.org/drawingml/2006/main">
              <a:ext uri="{FF2B5EF4-FFF2-40B4-BE49-F238E27FC236}">
                <a16:creationId xmlns:a16="http://schemas.microsoft.com/office/drawing/2014/main" id="{1BBD9FBC-9418-4C24-A56B-E9DDD5AD1088}"/>
              </a:ext>
            </a:extLst>
          </p:cNvPr>
          <p:cNvSpPr>
            <a:spLocks xmlns:a="http://schemas.openxmlformats.org/drawingml/2006/main" noGrp="1"/>
          </p:cNvSpPr>
          <p:nvPr/>
        </p:nvSpPr>
        <p:spPr>
          <a:xfrm xmlns:a="http://schemas.openxmlformats.org/drawingml/2006/main">
            <a:off x="704850" y="2505075"/>
            <a:ext cx="257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a:solidFill>
                  <a:srgbClr val="527D70"/>
                </a:solidFill>
                <a:latin typeface="Nimbus Sans"/>
                <a:ea typeface="Nimbus Sans"/>
                <a:cs typeface="Nimbus Sans"/>
              </a:defRPr>
            </a:pPr>
            <a:r>
              <a:rPr sz="2250" b="1">
                <a:solidFill>
                  <a:srgbClr val="527D70"/>
                </a:solidFill>
                <a:latin typeface="Nimbus Sans"/>
                <a:ea typeface="Nimbus Sans"/>
                <a:cs typeface="Nimbus Sans"/>
              </a:rPr>
              <a:t>Research</a:t>
            </a:r>
          </a:p>
        </p:txBody>
      </p:sp>
      <p:sp>
        <p:nvSpPr>
          <p:cNvPr id="5" name="">
            <a:extLst xmlns:a="http://schemas.openxmlformats.org/drawingml/2006/main">
              <a:ext uri="{FF2B5EF4-FFF2-40B4-BE49-F238E27FC236}">
                <a16:creationId xmlns:a16="http://schemas.microsoft.com/office/drawing/2014/main" id="{17057ABD-5C3B-41B5-A301-8EC79D584EFA}"/>
              </a:ext>
            </a:extLst>
          </p:cNvPr>
          <p:cNvSpPr>
            <a:spLocks xmlns:a="http://schemas.openxmlformats.org/drawingml/2006/main" noGrp="1"/>
          </p:cNvSpPr>
          <p:nvPr/>
        </p:nvSpPr>
        <p:spPr>
          <a:xfrm xmlns:a="http://schemas.openxmlformats.org/drawingml/2006/main">
            <a:off x="3619500" y="2505075"/>
            <a:ext cx="7715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4191B"/>
                </a:solidFill>
                <a:latin typeface="Nimbus Sans"/>
                <a:ea typeface="Nimbus Sans"/>
                <a:cs typeface="Nimbus Sans"/>
              </a:defRPr>
            </a:pPr>
            <a:r>
              <a:rPr sz="1875" b="0">
                <a:solidFill>
                  <a:srgbClr val="14191B"/>
                </a:solidFill>
                <a:latin typeface="Nimbus Sans"/>
                <a:ea typeface="Nimbus Sans"/>
                <a:cs typeface="Nimbus Sans"/>
              </a:rPr>
              <a:t>Brynjolfsson, Li and Raymond: Generative AI at Work</a:t>
            </a:r>
          </a:p>
          <a:p xmlns:a="http://schemas.openxmlformats.org/drawingml/2006/main">
            <a:pPr>
              <a:defRPr sz="1875" b="0">
                <a:solidFill>
                  <a:srgbClr val="14191B"/>
                </a:solidFill>
                <a:latin typeface="Nimbus Sans"/>
                <a:ea typeface="Nimbus Sans"/>
                <a:cs typeface="Nimbus Sans"/>
              </a:defRPr>
            </a:pPr>
            <a:r>
              <a:rPr sz="1875" b="0">
                <a:solidFill>
                  <a:srgbClr val="14191B"/>
                </a:solidFill>
                <a:latin typeface="Nimbus Sans"/>
                <a:ea typeface="Nimbus Sans"/>
                <a:cs typeface="Nimbus Sans"/>
              </a:rPr>
              <a:t>METR: 2025 randomized trial and February 2026 update</a:t>
            </a:r>
          </a:p>
        </p:txBody>
      </p:sp>
      <p:sp>
        <p:nvSpPr>
          <p:cNvPr id="6" name="">
            <a:extLst xmlns:a="http://schemas.openxmlformats.org/drawingml/2006/main">
              <a:ext uri="{FF2B5EF4-FFF2-40B4-BE49-F238E27FC236}">
                <a16:creationId xmlns:a16="http://schemas.microsoft.com/office/drawing/2014/main" id="{A89C8FE7-00AD-470B-8056-F66ABAE7052F}"/>
              </a:ext>
            </a:extLst>
          </p:cNvPr>
          <p:cNvSpPr>
            <a:spLocks xmlns:a="http://schemas.openxmlformats.org/drawingml/2006/main" noGrp="1"/>
          </p:cNvSpPr>
          <p:nvPr/>
        </p:nvSpPr>
        <p:spPr>
          <a:xfrm xmlns:a="http://schemas.openxmlformats.org/drawingml/2006/main">
            <a:off x="704850" y="3609975"/>
            <a:ext cx="2809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a:solidFill>
                  <a:srgbClr val="527D70"/>
                </a:solidFill>
                <a:latin typeface="Nimbus Sans"/>
                <a:ea typeface="Nimbus Sans"/>
                <a:cs typeface="Nimbus Sans"/>
              </a:defRPr>
            </a:pPr>
            <a:r>
              <a:rPr sz="2250" b="1">
                <a:solidFill>
                  <a:srgbClr val="527D70"/>
                </a:solidFill>
                <a:latin typeface="Nimbus Sans"/>
                <a:ea typeface="Nimbus Sans"/>
                <a:cs typeface="Nimbus Sans"/>
              </a:rPr>
              <a:t>Company evidence</a:t>
            </a:r>
          </a:p>
        </p:txBody>
      </p:sp>
      <p:sp>
        <p:nvSpPr>
          <p:cNvPr id="7" name="">
            <a:extLst xmlns:a="http://schemas.openxmlformats.org/drawingml/2006/main">
              <a:ext uri="{FF2B5EF4-FFF2-40B4-BE49-F238E27FC236}">
                <a16:creationId xmlns:a16="http://schemas.microsoft.com/office/drawing/2014/main" id="{D4E0B591-0540-4BF5-BCF3-282D1C79DB44}"/>
              </a:ext>
            </a:extLst>
          </p:cNvPr>
          <p:cNvSpPr>
            <a:spLocks xmlns:a="http://schemas.openxmlformats.org/drawingml/2006/main" noGrp="1"/>
          </p:cNvSpPr>
          <p:nvPr/>
        </p:nvSpPr>
        <p:spPr>
          <a:xfrm xmlns:a="http://schemas.openxmlformats.org/drawingml/2006/main">
            <a:off x="3619500" y="3609975"/>
            <a:ext cx="7715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4191B"/>
                </a:solidFill>
                <a:latin typeface="Nimbus Sans"/>
                <a:ea typeface="Nimbus Sans"/>
                <a:cs typeface="Nimbus Sans"/>
              </a:defRPr>
            </a:pPr>
            <a:r>
              <a:rPr sz="1875" b="0">
                <a:solidFill>
                  <a:srgbClr val="14191B"/>
                </a:solidFill>
                <a:latin typeface="Nimbus Sans"/>
                <a:ea typeface="Nimbus Sans"/>
                <a:cs typeface="Nimbus Sans"/>
              </a:rPr>
              <a:t>Sanofi, RELX, Thomson Reuters, Wolters Kluwer,</a:t>
            </a:r>
          </a:p>
          <a:p xmlns:a="http://schemas.openxmlformats.org/drawingml/2006/main">
            <a:pPr>
              <a:defRPr sz="1875" b="0">
                <a:solidFill>
                  <a:srgbClr val="14191B"/>
                </a:solidFill>
                <a:latin typeface="Nimbus Sans"/>
                <a:ea typeface="Nimbus Sans"/>
                <a:cs typeface="Nimbus Sans"/>
              </a:defRPr>
            </a:pPr>
            <a:r>
              <a:rPr sz="1875" b="0">
                <a:solidFill>
                  <a:srgbClr val="14191B"/>
                </a:solidFill>
                <a:latin typeface="Nimbus Sans"/>
                <a:ea typeface="Nimbus Sans"/>
                <a:cs typeface="Nimbus Sans"/>
              </a:rPr>
              <a:t>Intuit, SAP, JPMorganChase, Visa, Siemens and Amazon</a:t>
            </a:r>
          </a:p>
        </p:txBody>
      </p:sp>
      <p:sp>
        <p:nvSpPr>
          <p:cNvPr id="8" name="">
            <a:extLst xmlns:a="http://schemas.openxmlformats.org/drawingml/2006/main">
              <a:ext uri="{FF2B5EF4-FFF2-40B4-BE49-F238E27FC236}">
                <a16:creationId xmlns:a16="http://schemas.microsoft.com/office/drawing/2014/main" id="{B0551AE4-B494-4617-9044-D4EB6C814CA0}"/>
              </a:ext>
            </a:extLst>
          </p:cNvPr>
          <p:cNvSpPr>
            <a:spLocks xmlns:a="http://schemas.openxmlformats.org/drawingml/2006/main" noGrp="1"/>
          </p:cNvSpPr>
          <p:nvPr/>
        </p:nvSpPr>
        <p:spPr>
          <a:xfrm xmlns:a="http://schemas.openxmlformats.org/drawingml/2006/main">
            <a:off x="704850" y="4791075"/>
            <a:ext cx="2809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a:solidFill>
                  <a:srgbClr val="527D70"/>
                </a:solidFill>
                <a:latin typeface="Nimbus Sans"/>
                <a:ea typeface="Nimbus Sans"/>
                <a:cs typeface="Nimbus Sans"/>
              </a:defRPr>
            </a:pPr>
            <a:r>
              <a:rPr sz="2250" b="1">
                <a:solidFill>
                  <a:srgbClr val="527D70"/>
                </a:solidFill>
                <a:latin typeface="Nimbus Sans"/>
                <a:ea typeface="Nimbus Sans"/>
                <a:cs typeface="Nimbus Sans"/>
              </a:rPr>
              <a:t>Full repository</a:t>
            </a:r>
          </a:p>
        </p:txBody>
      </p:sp>
      <p:sp>
        <p:nvSpPr>
          <p:cNvPr id="9" name="">
            <a:extLst xmlns:a="http://schemas.openxmlformats.org/drawingml/2006/main">
              <a:ext uri="{FF2B5EF4-FFF2-40B4-BE49-F238E27FC236}">
                <a16:creationId xmlns:a16="http://schemas.microsoft.com/office/drawing/2014/main" id="{31C32493-5F29-4040-AA59-489FA48B1411}"/>
              </a:ext>
            </a:extLst>
          </p:cNvPr>
          <p:cNvSpPr>
            <a:spLocks xmlns:a="http://schemas.openxmlformats.org/drawingml/2006/main" noGrp="1"/>
          </p:cNvSpPr>
          <p:nvPr/>
        </p:nvSpPr>
        <p:spPr>
          <a:xfrm xmlns:a="http://schemas.openxmlformats.org/drawingml/2006/main">
            <a:off x="3619500" y="4791075"/>
            <a:ext cx="7715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14191B"/>
                </a:solidFill>
                <a:latin typeface="Nimbus Sans"/>
                <a:ea typeface="Nimbus Sans"/>
                <a:cs typeface="Nimbus Sans"/>
              </a:defRPr>
            </a:pPr>
            <a:r>
              <a:rPr sz="1950" b="1">
                <a:solidFill>
                  <a:srgbClr val="14191B"/>
                </a:solidFill>
                <a:latin typeface="Nimbus Sans"/>
                <a:ea typeface="Nimbus Sans"/>
                <a:cs typeface="Nimbus Sans"/>
              </a:rPr>
              <a:t>github.com/Darainer/AI-incumbent-Portfolio</a:t>
            </a:r>
          </a:p>
        </p:txBody>
      </p:sp>
      <p:sp>
        <p:nvSpPr>
          <p:cNvPr id="10" name="">
            <a:extLst xmlns:a="http://schemas.openxmlformats.org/drawingml/2006/main">
              <a:ext uri="{FF2B5EF4-FFF2-40B4-BE49-F238E27FC236}">
                <a16:creationId xmlns:a16="http://schemas.microsoft.com/office/drawing/2014/main" id="{531D4DDE-F7AD-4F0C-873C-67F0CAC8030E}"/>
              </a:ext>
            </a:extLst>
          </p:cNvPr>
          <p:cNvSpPr>
            <a:spLocks xmlns:a="http://schemas.openxmlformats.org/drawingml/2006/main" noGrp="1"/>
          </p:cNvSpPr>
          <p:nvPr/>
        </p:nvSpPr>
        <p:spPr>
          <a:xfrm xmlns:a="http://schemas.openxmlformats.org/drawingml/2006/main">
            <a:off x="704850" y="5953125"/>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626A6B"/>
                </a:solidFill>
                <a:latin typeface="Nimbus Sans"/>
                <a:ea typeface="Nimbus Sans"/>
                <a:cs typeface="Nimbus Sans"/>
              </a:defRPr>
            </a:pPr>
            <a:r>
              <a:rPr sz="1575" b="0">
                <a:solidFill>
                  <a:srgbClr val="626A6B"/>
                </a:solidFill>
                <a:latin typeface="Nimbus Sans"/>
                <a:ea typeface="Nimbus Sans"/>
                <a:cs typeface="Nimbus Sans"/>
              </a:rPr>
              <a:t>Version 0.1 · 11 September 2026 · Provisional research universe</a:t>
            </a:r>
          </a:p>
        </p:txBody>
      </p:sp>
    </p:spTree>
    <p:extLst>
      <p:ext uri="{BB962C8B-B14F-4D97-AF65-F5344CB8AC3E}">
        <p14:creationId xmlns:p14="http://schemas.microsoft.com/office/powerpoint/2010/main" val="121682378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2026-09-11T23:23:40.2420000Z</dcterms:created>
  <dcterms:modified xsi:type="dcterms:W3CDTF">2026-09-11T23:23:40.2420000Z</dcterms:modified>
</coreProperties>
</file>